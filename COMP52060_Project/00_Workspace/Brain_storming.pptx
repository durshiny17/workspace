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5_E304FB59.xml" ContentType="application/vnd.ms-powerpoint.comments+xml"/>
  <Override PartName="/ppt/comments/modernComment_101_937EB4FE.xml" ContentType="application/vnd.ms-powerpoint.comments+xml"/>
  <Override PartName="/ppt/comments/modernComment_108_6E027D60.xml" ContentType="application/vnd.ms-powerpoint.comments+xml"/>
  <Override PartName="/ppt/comments/modernComment_109_797C9EC2.xml" ContentType="application/vnd.ms-powerpoint.comment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1" r:id="rId3"/>
    <p:sldId id="257" r:id="rId4"/>
    <p:sldId id="262" r:id="rId5"/>
    <p:sldId id="263" r:id="rId6"/>
    <p:sldId id="264" r:id="rId7"/>
    <p:sldId id="265" r:id="rId8"/>
    <p:sldId id="266" r:id="rId9"/>
    <p:sldId id="258" r:id="rId10"/>
    <p:sldId id="259" r:id="rId11"/>
    <p:sldId id="260"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28A97AA-D95C-54D3-FF04-E33121F5B55B}" name="Shin YOSHIZAWA" initials="SY" userId="2263217e7e7cff9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36" d="100"/>
          <a:sy n="36" d="100"/>
        </p:scale>
        <p:origin x="34" y="11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01_937EB4FE.xml><?xml version="1.0" encoding="utf-8"?>
<p188:cmLst xmlns:a="http://schemas.openxmlformats.org/drawingml/2006/main" xmlns:r="http://schemas.openxmlformats.org/officeDocument/2006/relationships" xmlns:p188="http://schemas.microsoft.com/office/powerpoint/2018/8/main">
  <p188:cm id="{226207EC-D172-46C0-A78E-5033C3EA39B3}" authorId="{628A97AA-D95C-54D3-FF04-E33121F5B55B}" created="2026-04-19T17:23:23.989">
    <ac:txMkLst xmlns:ac="http://schemas.microsoft.com/office/drawing/2013/main/command">
      <pc:docMk xmlns:pc="http://schemas.microsoft.com/office/powerpoint/2013/main/command"/>
      <pc:sldMk xmlns:pc="http://schemas.microsoft.com/office/powerpoint/2013/main/command" cId="2474554622" sldId="257"/>
      <ac:spMk id="3" creationId="{97EF9B63-67D8-F5B9-1585-A6A43A94CEA9}"/>
      <ac:txMk cp="93" len="19">
        <ac:context len="285" hash="43247522"/>
      </ac:txMk>
    </ac:txMkLst>
    <p188:pos x="3486150" y="2181599"/>
    <p188:replyLst>
      <p188:reply id="{DD0C744D-74BD-444D-85C5-5961BC109095}" authorId="{628A97AA-D95C-54D3-FF04-E33121F5B55B}" created="2026-04-19T21:24:41.091">
        <p188:txBody>
          <a:bodyPr/>
          <a:lstStyle/>
          <a:p>
            <a:r>
              <a:rPr lang="ja-JP" altLang="en-US"/>
              <a:t>別ページ参照。</a:t>
            </a:r>
          </a:p>
        </p188:txBody>
      </p188:reply>
    </p188:replyLst>
    <p188:txBody>
      <a:bodyPr/>
      <a:lstStyle/>
      <a:p>
        <a:r>
          <a:rPr lang="ja-JP" altLang="en-US"/>
          <a:t>Mobility predictionとは何か？</a:t>
        </a:r>
      </a:p>
    </p188:txBody>
  </p188:cm>
  <p188:cm id="{F045B6A1-8B63-47B9-B1B6-9B2FE60C35A9}" authorId="{628A97AA-D95C-54D3-FF04-E33121F5B55B}" created="2026-04-19T17:24:17.872">
    <ac:txMkLst xmlns:ac="http://schemas.microsoft.com/office/drawing/2013/main/command">
      <pc:docMk xmlns:pc="http://schemas.microsoft.com/office/powerpoint/2013/main/command"/>
      <pc:sldMk xmlns:pc="http://schemas.microsoft.com/office/powerpoint/2013/main/command" cId="2474554622" sldId="257"/>
      <ac:spMk id="5" creationId="{5B941130-BDAA-7D8F-44AC-C293DBDDE48D}"/>
      <ac:txMk cp="47" len="24">
        <ac:context len="76" hash="2587857591"/>
      </ac:txMk>
    </ac:txMkLst>
    <p188:pos x="7762316" y="902448"/>
    <p188:replyLst>
      <p188:reply id="{9AF50826-1836-45D7-91D2-D90534978E89}" authorId="{628A97AA-D95C-54D3-FF04-E33121F5B55B}" created="2026-04-19T21:24:48.020">
        <p188:txBody>
          <a:bodyPr/>
          <a:lstStyle/>
          <a:p>
            <a:r>
              <a:rPr lang="ja-JP" altLang="en-US"/>
              <a:t>別ページ参照。</a:t>
            </a:r>
          </a:p>
        </p188:txBody>
      </p188:reply>
    </p188:replyLst>
    <p188:txBody>
      <a:bodyPr/>
      <a:lstStyle/>
      <a:p>
        <a:r>
          <a:rPr lang="ja-JP" altLang="en-US"/>
          <a:t>なぜ？</a:t>
        </a:r>
      </a:p>
    </p188:txBody>
  </p188:cm>
</p188:cmLst>
</file>

<file path=ppt/comments/modernComment_105_E304FB59.xml><?xml version="1.0" encoding="utf-8"?>
<p188:cmLst xmlns:a="http://schemas.openxmlformats.org/drawingml/2006/main" xmlns:r="http://schemas.openxmlformats.org/officeDocument/2006/relationships" xmlns:p188="http://schemas.microsoft.com/office/powerpoint/2018/8/main">
  <p188:cm id="{9A7C9DF1-4DFB-42DF-8F62-20E74DA84F3D}" authorId="{628A97AA-D95C-54D3-FF04-E33121F5B55B}" created="2026-04-19T18:40:20.757">
    <ac:deMkLst xmlns:ac="http://schemas.microsoft.com/office/drawing/2013/main/command">
      <pc:docMk xmlns:pc="http://schemas.microsoft.com/office/powerpoint/2013/main/command"/>
      <pc:sldMk xmlns:pc="http://schemas.microsoft.com/office/powerpoint/2013/main/command" cId="3808754521" sldId="261"/>
      <ac:spMk id="3" creationId="{31D81703-2CA5-C2E6-3CBA-27886BEA0BAE}"/>
    </ac:deMkLst>
    <p188:txBody>
      <a:bodyPr/>
      <a:lstStyle/>
      <a:p>
        <a:r>
          <a:rPr lang="ja-JP" altLang="en-US"/>
          <a:t>性能指標は何か？</a:t>
        </a:r>
      </a:p>
    </p188:txBody>
  </p188:cm>
  <p188:cm id="{04B85963-1C2C-4E4A-B4E1-F37C97440B65}" authorId="{628A97AA-D95C-54D3-FF04-E33121F5B55B}" created="2026-04-19T18:50:35.676">
    <ac:txMkLst xmlns:ac="http://schemas.microsoft.com/office/drawing/2013/main/command">
      <pc:docMk xmlns:pc="http://schemas.microsoft.com/office/powerpoint/2013/main/command"/>
      <pc:sldMk xmlns:pc="http://schemas.microsoft.com/office/powerpoint/2013/main/command" cId="3808754521" sldId="261"/>
      <ac:spMk id="3" creationId="{31D81703-2CA5-C2E6-3CBA-27886BEA0BAE}"/>
      <ac:txMk cp="478" len="6">
        <ac:context len="598" hash="1923509816"/>
      </ac:txMk>
    </ac:txMkLst>
    <p188:pos x="2921374" y="3822140"/>
    <p188:replyLst>
      <p188:reply id="{90CA13EE-3388-4CBB-9304-8DC27C66E6E0}" authorId="{628A97AA-D95C-54D3-FF04-E33121F5B55B}" created="2026-04-19T18:50:44.301">
        <p188:txBody>
          <a:bodyPr/>
          <a:lstStyle/>
          <a:p>
            <a:r>
              <a:rPr lang="ja-JP" altLang="en-US"/>
              <a:t>https://link.springer.com/article/10.1007/s42423-020-00058-x?utm_source=copilot.com</a:t>
            </a:r>
          </a:p>
        </p188:txBody>
      </p188:reply>
    </p188:replyLst>
    <p188:txBody>
      <a:bodyPr/>
      <a:lstStyle/>
      <a:p>
        <a:r>
          <a:rPr lang="ja-JP" altLang="en-US"/>
          <a:t>“analytical formulation to predict mobility performance in extraterrestrial environments requires reliable in situ testing campaigns” </a:t>
        </a:r>
      </a:p>
    </p188:txBody>
  </p188:cm>
</p188:cmLst>
</file>

<file path=ppt/comments/modernComment_108_6E027D60.xml><?xml version="1.0" encoding="utf-8"?>
<p188:cmLst xmlns:a="http://schemas.openxmlformats.org/drawingml/2006/main" xmlns:r="http://schemas.openxmlformats.org/officeDocument/2006/relationships" xmlns:p188="http://schemas.microsoft.com/office/powerpoint/2018/8/main">
  <p188:cm id="{D31A8B03-45D1-4B7F-BB5A-DB9D4E65A635}" authorId="{628A97AA-D95C-54D3-FF04-E33121F5B55B}" created="2026-04-19T21:03:29.955">
    <ac:deMkLst xmlns:ac="http://schemas.microsoft.com/office/drawing/2013/main/command">
      <pc:docMk xmlns:pc="http://schemas.microsoft.com/office/powerpoint/2013/main/command"/>
      <pc:sldMk xmlns:pc="http://schemas.microsoft.com/office/powerpoint/2013/main/command" cId="1845656928" sldId="264"/>
      <ac:spMk id="3" creationId="{D9B66326-646D-0DC1-E488-2419FACB7BEB}"/>
    </ac:deMkLst>
    <p188:replyLst>
      <p188:reply id="{02CB2D89-ABE9-44B1-8940-91E8CF6BFF59}" authorId="{628A97AA-D95C-54D3-FF04-E33121F5B55B}" created="2026-04-19T21:31:24.830">
        <p188:txBody>
          <a:bodyPr/>
          <a:lstStyle/>
          <a:p>
            <a:r>
              <a:rPr lang="ja-JP" altLang="en-US"/>
              <a:t>Yutu ("Jade Rabbit") is China's first mission to make a soft landing at the Moon. After running down a ramp on to the lunar surface, Yutu trundled in an arc around its delivery lander.</a:t>
            </a:r>
          </a:p>
        </p188:txBody>
      </p188:reply>
      <p188:reply id="{0DE82899-C1C3-47F2-B3F4-8AD774FDF4A3}" authorId="{628A97AA-D95C-54D3-FF04-E33121F5B55B}" created="2026-04-19T21:31:30.912">
        <p188:txBody>
          <a:bodyPr/>
          <a:lstStyle/>
          <a:p>
            <a:r>
              <a:rPr lang="ja-JP" altLang="en-US"/>
              <a:t>https://www.bbc.co.uk/news/science-environment-25559061</a:t>
            </a:r>
          </a:p>
        </p188:txBody>
      </p188:reply>
    </p188:replyLst>
    <p188:txBody>
      <a:bodyPr/>
      <a:lstStyle/>
      <a:p>
        <a:r>
          <a:rPr lang="ja-JP" altLang="en-US"/>
          <a:t>Yutuローバーとは？</a:t>
        </a:r>
      </a:p>
    </p188:txBody>
  </p188:cm>
</p188:cmLst>
</file>

<file path=ppt/comments/modernComment_109_797C9EC2.xml><?xml version="1.0" encoding="utf-8"?>
<p188:cmLst xmlns:a="http://schemas.openxmlformats.org/drawingml/2006/main" xmlns:r="http://schemas.openxmlformats.org/officeDocument/2006/relationships" xmlns:p188="http://schemas.microsoft.com/office/powerpoint/2018/8/main">
  <p188:cm id="{98A3752E-092B-43A8-99C6-3D6D2A76FB08}" authorId="{628A97AA-D95C-54D3-FF04-E33121F5B55B}" created="2026-04-19T21:18:12.649">
    <ac:deMkLst xmlns:ac="http://schemas.microsoft.com/office/drawing/2013/main/command">
      <pc:docMk xmlns:pc="http://schemas.microsoft.com/office/powerpoint/2013/main/command"/>
      <pc:sldMk xmlns:pc="http://schemas.microsoft.com/office/powerpoint/2013/main/command" cId="2038210242" sldId="265"/>
      <ac:spMk id="3" creationId="{ADD9F7E6-9C0F-8321-FF3D-A219F8F0FFE1}"/>
    </ac:deMkLst>
    <p188:txBody>
      <a:bodyPr/>
      <a:lstStyle/>
      <a:p>
        <a:r>
          <a:rPr lang="ja-JP" altLang="en-US"/>
          <a:t>DEMとは？</a:t>
        </a:r>
      </a:p>
    </p188:txBody>
  </p188:cm>
  <p188:cm id="{229B127C-923C-4ACE-BE59-E36BAF43B2BE}" authorId="{628A97AA-D95C-54D3-FF04-E33121F5B55B}" created="2026-04-19T21:18:46.495">
    <ac:txMkLst xmlns:ac="http://schemas.microsoft.com/office/drawing/2013/main/command">
      <pc:docMk xmlns:pc="http://schemas.microsoft.com/office/powerpoint/2013/main/command"/>
      <pc:sldMk xmlns:pc="http://schemas.microsoft.com/office/powerpoint/2013/main/command" cId="2038210242" sldId="265"/>
      <ac:spMk id="3" creationId="{ADD9F7E6-9C0F-8321-FF3D-A219F8F0FFE1}"/>
      <ac:txMk cp="309" len="3">
        <ac:context len="651" hash="2438980656"/>
      </ac:txMk>
    </ac:txMkLst>
    <p188:pos x="7574056" y="3095999"/>
    <p188:txBody>
      <a:bodyPr/>
      <a:lstStyle/>
      <a:p>
        <a:r>
          <a:rPr lang="ja-JP" altLang="en-US"/>
          <a:t>SPHとは？</a:t>
        </a:r>
      </a:p>
    </p188:txBody>
  </p188:cm>
  <p188:cm id="{B133DC5F-6A90-4979-ADC5-B955A008D1FA}" authorId="{628A97AA-D95C-54D3-FF04-E33121F5B55B}" created="2026-04-19T21:19:00.270">
    <ac:txMkLst xmlns:ac="http://schemas.microsoft.com/office/drawing/2013/main/command">
      <pc:docMk xmlns:pc="http://schemas.microsoft.com/office/powerpoint/2013/main/command"/>
      <pc:sldMk xmlns:pc="http://schemas.microsoft.com/office/powerpoint/2013/main/command" cId="2038210242" sldId="265"/>
      <ac:spMk id="3" creationId="{ADD9F7E6-9C0F-8321-FF3D-A219F8F0FFE1}"/>
      <ac:txMk cp="309" len="3">
        <ac:context len="651" hash="2438980656"/>
      </ac:txMk>
    </ac:txMkLst>
    <p188:pos x="7574056" y="3095999"/>
    <p188:txBody>
      <a:bodyPr/>
      <a:lstStyle/>
      <a:p>
        <a:r>
          <a:rPr lang="ja-JP" altLang="en-US"/>
          <a:t>PSOとは？</a:t>
        </a:r>
      </a:p>
    </p188:txBody>
  </p188:cm>
  <p188:cm id="{0C71A375-A700-4B08-AA2D-4CF6483237AB}" authorId="{628A97AA-D95C-54D3-FF04-E33121F5B55B}" created="2026-04-19T21:19:16.009">
    <ac:txMkLst xmlns:ac="http://schemas.microsoft.com/office/drawing/2013/main/command">
      <pc:docMk xmlns:pc="http://schemas.microsoft.com/office/powerpoint/2013/main/command"/>
      <pc:sldMk xmlns:pc="http://schemas.microsoft.com/office/powerpoint/2013/main/command" cId="2038210242" sldId="265"/>
      <ac:spMk id="3" creationId="{ADD9F7E6-9C0F-8321-FF3D-A219F8F0FFE1}"/>
      <ac:txMk cp="313" len="2">
        <ac:context len="651" hash="2438980656"/>
      </ac:txMk>
    </ac:txMkLst>
    <p188:pos x="1684244" y="3257363"/>
    <p188:txBody>
      <a:bodyPr/>
      <a:lstStyle/>
      <a:p>
        <a:r>
          <a:rPr lang="ja-JP" altLang="en-US"/>
          <a:t>DEとは？</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07895-EB61-4A9A-A6D6-2E782A8FE13D}" type="datetimeFigureOut">
              <a:rPr kumimoji="1" lang="ja-JP" altLang="en-US" smtClean="0"/>
              <a:t>2026/4/30</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FA50ED-9D1E-4070-879A-E401514A545E}" type="slidenum">
              <a:rPr kumimoji="1" lang="ja-JP" altLang="en-US" smtClean="0"/>
              <a:t>‹#›</a:t>
            </a:fld>
            <a:endParaRPr kumimoji="1" lang="ja-JP" altLang="en-US"/>
          </a:p>
        </p:txBody>
      </p:sp>
    </p:spTree>
    <p:extLst>
      <p:ext uri="{BB962C8B-B14F-4D97-AF65-F5344CB8AC3E}">
        <p14:creationId xmlns:p14="http://schemas.microsoft.com/office/powerpoint/2010/main" val="281570781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CFA50ED-9D1E-4070-879A-E401514A545E}" type="slidenum">
              <a:rPr kumimoji="1" lang="ja-JP" altLang="en-US" smtClean="0"/>
              <a:t>13</a:t>
            </a:fld>
            <a:endParaRPr kumimoji="1" lang="ja-JP" altLang="en-US"/>
          </a:p>
        </p:txBody>
      </p:sp>
    </p:spTree>
    <p:extLst>
      <p:ext uri="{BB962C8B-B14F-4D97-AF65-F5344CB8AC3E}">
        <p14:creationId xmlns:p14="http://schemas.microsoft.com/office/powerpoint/2010/main" val="3872569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891425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414311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2354349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1792815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58577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886575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2461054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3308747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2540045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861237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70B48C7-3CC0-4B6E-BCA8-606136F2254C}" type="datetimeFigureOut">
              <a:rPr kumimoji="1" lang="ja-JP" altLang="en-US" smtClean="0"/>
              <a:t>2026/4/30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1803531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0B48C7-3CC0-4B6E-BCA8-606136F2254C}" type="datetimeFigureOut">
              <a:rPr kumimoji="1" lang="ja-JP" altLang="en-US" smtClean="0"/>
              <a:t>2026/4/30</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E2C0FB-8BDF-486A-A105-ED4FB90EAAE9}" type="slidenum">
              <a:rPr kumimoji="1" lang="ja-JP" altLang="en-US" smtClean="0"/>
              <a:t>‹#›</a:t>
            </a:fld>
            <a:endParaRPr kumimoji="1" lang="ja-JP" altLang="en-US"/>
          </a:p>
        </p:txBody>
      </p:sp>
    </p:spTree>
    <p:extLst>
      <p:ext uri="{BB962C8B-B14F-4D97-AF65-F5344CB8AC3E}">
        <p14:creationId xmlns:p14="http://schemas.microsoft.com/office/powerpoint/2010/main" val="38052599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jpl.nasa.gov/site/research/media/posters/2021/R21217p.pdf?utm_source=copilot.com" TargetMode="External"/><Relationship Id="rId2" Type="http://schemas.microsoft.com/office/2018/10/relationships/comments" Target="../comments/modernComment_105_E304FB59.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1_937EB4FE.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researchgate.net/profile/Wei-Hu-24/publication/390954742_An_analysis_of_the_Yutu_lunar_rover's_mobility_performance_using_a_multibody_dynamics_framework_and_a_physics-based_terramechanics_model/links/6804f9e4ded4331557309b84/An-analysis-of-the-Yutu-lunar-rovers-mobility-performance-using-a-multibody-dynamics-framework-and-a-physics-based-terramechanics-model.pdf?utm_source=copilot.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gate.net/profile/Wei-Hu-24/publication/390954742_An_analysis_of_the_Yutu_lunar_rover's_mobility_performance_using_a_multibody_dynamics_framework_and_a_physics-based_terramechanics_model/links/6804f9e4ded4331557309b84/An-analysis-of-the-Yutu-lunar-rovers-mobility-performance-using-a-multibody-dynamics-framework-and-a-physics-based-terramechanics-model.pdf?utm_source=copilot.com" TargetMode="External"/><Relationship Id="rId2" Type="http://schemas.microsoft.com/office/2018/10/relationships/comments" Target="../comments/modernComment_108_6E027D60.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link.springer.com/article/10.1007/s42423-020-00058-x?utm_source=copilot.com" TargetMode="External"/><Relationship Id="rId2" Type="http://schemas.microsoft.com/office/2018/10/relationships/comments" Target="../comments/modernComment_109_797C9EC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6373D0-7825-D881-C460-42F313872B62}"/>
              </a:ext>
            </a:extLst>
          </p:cNvPr>
          <p:cNvSpPr>
            <a:spLocks noGrp="1"/>
          </p:cNvSpPr>
          <p:nvPr>
            <p:ph type="ctrTitle"/>
          </p:nvPr>
        </p:nvSpPr>
        <p:spPr/>
        <p:txBody>
          <a:bodyPr/>
          <a:lstStyle/>
          <a:p>
            <a:r>
              <a:rPr kumimoji="1" lang="en-US" altLang="ja-JP" dirty="0"/>
              <a:t>Brain storming</a:t>
            </a:r>
            <a:endParaRPr kumimoji="1" lang="ja-JP" altLang="en-US" dirty="0"/>
          </a:p>
        </p:txBody>
      </p:sp>
      <p:sp>
        <p:nvSpPr>
          <p:cNvPr id="3" name="字幕 2">
            <a:extLst>
              <a:ext uri="{FF2B5EF4-FFF2-40B4-BE49-F238E27FC236}">
                <a16:creationId xmlns:a16="http://schemas.microsoft.com/office/drawing/2014/main" id="{2D409664-4E2F-35A6-C99F-2CC308057BC3}"/>
              </a:ext>
            </a:extLst>
          </p:cNvPr>
          <p:cNvSpPr>
            <a:spLocks noGrp="1"/>
          </p:cNvSpPr>
          <p:nvPr>
            <p:ph type="subTitle" idx="1"/>
          </p:nvPr>
        </p:nvSpPr>
        <p:spPr/>
        <p:txBody>
          <a:bodyPr/>
          <a:lstStyle/>
          <a:p>
            <a:r>
              <a:rPr lang="en-US" altLang="ja-JP" dirty="0" err="1"/>
              <a:t>Optimisation</a:t>
            </a:r>
            <a:r>
              <a:rPr lang="en-US" altLang="ja-JP" dirty="0"/>
              <a:t> algorithms for robotic exploration of planetary bodies</a:t>
            </a:r>
            <a:endParaRPr kumimoji="1" lang="ja-JP" altLang="en-US" dirty="0"/>
          </a:p>
        </p:txBody>
      </p:sp>
    </p:spTree>
    <p:extLst>
      <p:ext uri="{BB962C8B-B14F-4D97-AF65-F5344CB8AC3E}">
        <p14:creationId xmlns:p14="http://schemas.microsoft.com/office/powerpoint/2010/main" val="965467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A0F5C3-0D46-B111-9795-E9DE3D509A15}"/>
              </a:ext>
            </a:extLst>
          </p:cNvPr>
          <p:cNvSpPr>
            <a:spLocks noGrp="1"/>
          </p:cNvSpPr>
          <p:nvPr>
            <p:ph type="title"/>
          </p:nvPr>
        </p:nvSpPr>
        <p:spPr/>
        <p:txBody>
          <a:bodyPr/>
          <a:lstStyle/>
          <a:p>
            <a:r>
              <a:rPr kumimoji="1" lang="en-US" altLang="ja-JP" dirty="0"/>
              <a:t>Background </a:t>
            </a:r>
            <a:r>
              <a:rPr lang="en-US" altLang="ja-JP" dirty="0"/>
              <a:t>Investigation0</a:t>
            </a:r>
            <a:endParaRPr kumimoji="1" lang="ja-JP" altLang="en-US" dirty="0"/>
          </a:p>
        </p:txBody>
      </p:sp>
      <p:sp>
        <p:nvSpPr>
          <p:cNvPr id="3" name="コンテンツ プレースホルダー 2">
            <a:extLst>
              <a:ext uri="{FF2B5EF4-FFF2-40B4-BE49-F238E27FC236}">
                <a16:creationId xmlns:a16="http://schemas.microsoft.com/office/drawing/2014/main" id="{31D81703-2CA5-C2E6-3CBA-27886BEA0BAE}"/>
              </a:ext>
            </a:extLst>
          </p:cNvPr>
          <p:cNvSpPr>
            <a:spLocks noGrp="1"/>
          </p:cNvSpPr>
          <p:nvPr>
            <p:ph idx="1"/>
          </p:nvPr>
        </p:nvSpPr>
        <p:spPr/>
        <p:txBody>
          <a:bodyPr>
            <a:normAutofit fontScale="85000" lnSpcReduction="20000"/>
          </a:bodyPr>
          <a:lstStyle/>
          <a:p>
            <a:r>
              <a:rPr kumimoji="1" lang="ja-JP" altLang="en-US" dirty="0"/>
              <a:t>なぜ</a:t>
            </a:r>
            <a:r>
              <a:rPr kumimoji="1" lang="en-US" altLang="ja-JP" dirty="0"/>
              <a:t>”Planetary rover mobility”</a:t>
            </a:r>
            <a:r>
              <a:rPr kumimoji="1" lang="ja-JP" altLang="en-US" dirty="0"/>
              <a:t>が必要なのか？</a:t>
            </a:r>
            <a:endParaRPr kumimoji="1" lang="en-US" altLang="ja-JP" dirty="0"/>
          </a:p>
          <a:p>
            <a:pPr lvl="1"/>
            <a:r>
              <a:rPr kumimoji="1" lang="ja-JP" altLang="en-US" dirty="0"/>
              <a:t>ミッション数・関心の増加（マクロな背景）</a:t>
            </a:r>
            <a:endParaRPr kumimoji="1" lang="en-US" altLang="ja-JP" dirty="0"/>
          </a:p>
          <a:p>
            <a:pPr lvl="2"/>
            <a:r>
              <a:rPr lang="ja-JP" altLang="en-US" dirty="0"/>
              <a:t>月・火星探査・極域（</a:t>
            </a:r>
            <a:r>
              <a:rPr lang="en-US" altLang="ja-JP" dirty="0"/>
              <a:t>PSR</a:t>
            </a:r>
            <a:r>
              <a:rPr lang="ja-JP" altLang="en-US" dirty="0"/>
              <a:t>）探査などでローバーの役割が拡大している。</a:t>
            </a:r>
            <a:endParaRPr lang="en-US" altLang="ja-JP" dirty="0"/>
          </a:p>
          <a:p>
            <a:pPr lvl="3"/>
            <a:r>
              <a:rPr lang="en-US" altLang="ja-JP" dirty="0">
                <a:hlinkClick r:id="rId3"/>
              </a:rPr>
              <a:t>Mobility System Evaluation for Traversing Permanently Shadowed Regions on the Moon</a:t>
            </a:r>
            <a:endParaRPr lang="en-US" altLang="ja-JP" dirty="0"/>
          </a:p>
          <a:p>
            <a:pPr lvl="4"/>
            <a:r>
              <a:rPr lang="ja-JP" altLang="en-US" dirty="0"/>
              <a:t>月南極の永久影領域を走行できるローバー設計のために、複数のローバー攻勢を比較し、</a:t>
            </a:r>
            <a:r>
              <a:rPr lang="en-US" altLang="ja-JP" dirty="0"/>
              <a:t>”mobility systems for traveling permanently shadowed regions”</a:t>
            </a:r>
            <a:r>
              <a:rPr lang="ja-JP" altLang="en-US" dirty="0"/>
              <a:t>の</a:t>
            </a:r>
            <a:r>
              <a:rPr lang="ja-JP" altLang="en-US" dirty="0">
                <a:highlight>
                  <a:srgbClr val="FFFF00"/>
                </a:highlight>
              </a:rPr>
              <a:t>性能評価</a:t>
            </a:r>
            <a:r>
              <a:rPr lang="ja-JP" altLang="en-US" dirty="0"/>
              <a:t>を行っている。</a:t>
            </a:r>
            <a:endParaRPr lang="en-US" altLang="ja-JP" dirty="0"/>
          </a:p>
          <a:p>
            <a:pPr lvl="4"/>
            <a:r>
              <a:rPr lang="ja-JP" altLang="en-US" dirty="0"/>
              <a:t>ローバーの走行性能（エネルギー効率、スリップ、スタック、安定性能）が、「どこまで観測できるか」「どれだけ長期間運用できるか」を制限している。</a:t>
            </a:r>
            <a:endParaRPr lang="en-US" altLang="ja-JP" dirty="0"/>
          </a:p>
          <a:p>
            <a:pPr lvl="4"/>
            <a:r>
              <a:rPr lang="ja-JP" altLang="en-US" dirty="0"/>
              <a:t>例えば、ローバーの走行性能を定量的に比較する研究では、エネルギー消費・スリップ・静的安定性・経路偏差などの指標で、複数のモビリティシステムを評価し、“</a:t>
            </a:r>
            <a:r>
              <a:rPr lang="en-US" altLang="ja-JP" dirty="0"/>
              <a:t>mobility system evaluation</a:t>
            </a:r>
            <a:r>
              <a:rPr lang="ja-JP" altLang="en-US" dirty="0"/>
              <a:t>”が重要な判断材料になっている。</a:t>
            </a:r>
            <a:endParaRPr lang="en-US" altLang="ja-JP" dirty="0"/>
          </a:p>
          <a:p>
            <a:pPr lvl="3"/>
            <a:r>
              <a:rPr lang="ja-JP" altLang="en-US" dirty="0"/>
              <a:t>別の研究では、月・火星ローバーのミッション制約の多くが、「車両</a:t>
            </a:r>
            <a:r>
              <a:rPr lang="en-US" altLang="ja-JP" dirty="0"/>
              <a:t>-</a:t>
            </a:r>
            <a:r>
              <a:rPr lang="ja-JP" altLang="en-US" dirty="0"/>
              <a:t>地盤相互作用モデルの不確かさ」に起因していると指摘されている。</a:t>
            </a:r>
            <a:endParaRPr lang="en-US" altLang="ja-JP" dirty="0"/>
          </a:p>
          <a:p>
            <a:pPr lvl="4"/>
            <a:r>
              <a:rPr lang="ja-JP" altLang="en-US" dirty="0"/>
              <a:t>「ローバーがどの程度走れるか」を事前に予測できないことが、ミッション設計・車輪設計の大きな制約となっている。</a:t>
            </a:r>
            <a:endParaRPr lang="en-US" altLang="ja-JP" dirty="0"/>
          </a:p>
          <a:p>
            <a:pPr lvl="2"/>
            <a:endParaRPr kumimoji="1" lang="en-US" altLang="ja-JP" dirty="0"/>
          </a:p>
        </p:txBody>
      </p:sp>
      <p:sp>
        <p:nvSpPr>
          <p:cNvPr id="6" name="四角形: 角を丸くする 5">
            <a:extLst>
              <a:ext uri="{FF2B5EF4-FFF2-40B4-BE49-F238E27FC236}">
                <a16:creationId xmlns:a16="http://schemas.microsoft.com/office/drawing/2014/main" id="{243DAC26-F44E-DD52-9813-A4D7FFD94B58}"/>
              </a:ext>
            </a:extLst>
          </p:cNvPr>
          <p:cNvSpPr/>
          <p:nvPr/>
        </p:nvSpPr>
        <p:spPr>
          <a:xfrm>
            <a:off x="628649" y="5809129"/>
            <a:ext cx="7886699" cy="90095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dirty="0"/>
              <a:t>惑星探査ミッションにおいて、ローバーの走行性能は観測可能範囲やミッション成功率を直接左右するため、その事前予測と設計最適化は重要な課題となっている。</a:t>
            </a:r>
          </a:p>
        </p:txBody>
      </p:sp>
    </p:spTree>
    <p:extLst>
      <p:ext uri="{BB962C8B-B14F-4D97-AF65-F5344CB8AC3E}">
        <p14:creationId xmlns:p14="http://schemas.microsoft.com/office/powerpoint/2010/main" val="380875452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561805-2B46-5A2E-0440-CCBC2ABDA529}"/>
              </a:ext>
            </a:extLst>
          </p:cNvPr>
          <p:cNvSpPr>
            <a:spLocks noGrp="1"/>
          </p:cNvSpPr>
          <p:nvPr>
            <p:ph type="title"/>
          </p:nvPr>
        </p:nvSpPr>
        <p:spPr/>
        <p:txBody>
          <a:bodyPr/>
          <a:lstStyle/>
          <a:p>
            <a:r>
              <a:rPr kumimoji="1" lang="en-US" altLang="ja-JP" dirty="0"/>
              <a:t>Background Investigation</a:t>
            </a:r>
            <a:endParaRPr kumimoji="1" lang="ja-JP" altLang="en-US" dirty="0"/>
          </a:p>
        </p:txBody>
      </p:sp>
      <p:sp>
        <p:nvSpPr>
          <p:cNvPr id="3" name="コンテンツ プレースホルダー 2">
            <a:extLst>
              <a:ext uri="{FF2B5EF4-FFF2-40B4-BE49-F238E27FC236}">
                <a16:creationId xmlns:a16="http://schemas.microsoft.com/office/drawing/2014/main" id="{97EF9B63-67D8-F5B9-1585-A6A43A94CEA9}"/>
              </a:ext>
            </a:extLst>
          </p:cNvPr>
          <p:cNvSpPr>
            <a:spLocks noGrp="1"/>
          </p:cNvSpPr>
          <p:nvPr>
            <p:ph idx="1"/>
          </p:nvPr>
        </p:nvSpPr>
        <p:spPr/>
        <p:txBody>
          <a:bodyPr>
            <a:normAutofit fontScale="85000" lnSpcReduction="20000"/>
          </a:bodyPr>
          <a:lstStyle/>
          <a:p>
            <a:r>
              <a:rPr lang="en-US" altLang="ja-JP" dirty="0"/>
              <a:t>Three pillars</a:t>
            </a:r>
          </a:p>
          <a:p>
            <a:pPr marL="914400" lvl="1" indent="-457200">
              <a:buFont typeface="+mj-lt"/>
              <a:buAutoNum type="arabicPeriod"/>
            </a:pPr>
            <a:r>
              <a:rPr kumimoji="1" lang="en-US" altLang="ja-JP" dirty="0"/>
              <a:t>Planetary rover mobility problem</a:t>
            </a:r>
          </a:p>
          <a:p>
            <a:pPr marL="1371600" lvl="2" indent="-457200">
              <a:buFont typeface="+mj-lt"/>
              <a:buAutoNum type="arabicPeriod"/>
            </a:pPr>
            <a:r>
              <a:rPr lang="ja-JP" altLang="en-US" dirty="0"/>
              <a:t>ミッション増加</a:t>
            </a:r>
            <a:endParaRPr lang="en-US" altLang="ja-JP" dirty="0"/>
          </a:p>
          <a:p>
            <a:pPr marL="1371600" lvl="2" indent="-457200">
              <a:buFont typeface="+mj-lt"/>
              <a:buAutoNum type="arabicPeriod"/>
            </a:pPr>
            <a:r>
              <a:rPr kumimoji="1" lang="ja-JP" altLang="en-US" dirty="0"/>
              <a:t>質量・電力制約</a:t>
            </a:r>
            <a:endParaRPr kumimoji="1" lang="en-US" altLang="ja-JP" dirty="0"/>
          </a:p>
          <a:p>
            <a:pPr marL="1371600" lvl="2" indent="-457200">
              <a:buFont typeface="+mj-lt"/>
              <a:buAutoNum type="arabicPeriod"/>
            </a:pPr>
            <a:r>
              <a:rPr lang="ja-JP" altLang="en-US" dirty="0"/>
              <a:t>過酷な地形（岩、砂、レゴリス）</a:t>
            </a:r>
            <a:endParaRPr lang="en-US" altLang="ja-JP" dirty="0"/>
          </a:p>
          <a:p>
            <a:pPr marL="1371600" lvl="2" indent="-457200">
              <a:buFont typeface="+mj-lt"/>
              <a:buAutoNum type="arabicPeriod"/>
            </a:pPr>
            <a:r>
              <a:rPr kumimoji="1" lang="ja-JP" altLang="en-US" dirty="0"/>
              <a:t>故障</a:t>
            </a:r>
            <a:r>
              <a:rPr kumimoji="1" lang="en-US" altLang="ja-JP" dirty="0"/>
              <a:t>=</a:t>
            </a:r>
            <a:r>
              <a:rPr kumimoji="1" lang="ja-JP" altLang="en-US" dirty="0"/>
              <a:t>ミッション失敗</a:t>
            </a:r>
            <a:endParaRPr lang="en-US" altLang="ja-JP" dirty="0"/>
          </a:p>
          <a:p>
            <a:pPr marL="914400" lvl="2" indent="0">
              <a:buNone/>
            </a:pPr>
            <a:r>
              <a:rPr kumimoji="1" lang="ja-JP" altLang="en-US" dirty="0"/>
              <a:t>だから</a:t>
            </a:r>
            <a:r>
              <a:rPr kumimoji="1" lang="en-US" altLang="ja-JP" dirty="0">
                <a:highlight>
                  <a:srgbClr val="FFFF00"/>
                </a:highlight>
              </a:rPr>
              <a:t>mobility prediction</a:t>
            </a:r>
            <a:r>
              <a:rPr kumimoji="1" lang="ja-JP" altLang="en-US" dirty="0"/>
              <a:t>が重要</a:t>
            </a:r>
            <a:endParaRPr lang="en-US" altLang="ja-JP" dirty="0"/>
          </a:p>
          <a:p>
            <a:pPr marL="914400" lvl="1" indent="-457200">
              <a:buFont typeface="+mj-lt"/>
              <a:buAutoNum type="arabicPeriod"/>
            </a:pPr>
            <a:r>
              <a:rPr kumimoji="1" lang="en-US" altLang="ja-JP" dirty="0"/>
              <a:t>Wheel</a:t>
            </a:r>
            <a:r>
              <a:rPr lang="en-US" altLang="ja-JP" dirty="0"/>
              <a:t>-soil interaction</a:t>
            </a:r>
          </a:p>
          <a:p>
            <a:pPr marL="1371600" lvl="2" indent="-457200">
              <a:buFont typeface="+mj-lt"/>
              <a:buAutoNum type="arabicPeriod"/>
            </a:pPr>
            <a:r>
              <a:rPr kumimoji="1" lang="ja-JP" altLang="en-US" dirty="0"/>
              <a:t>ローバー性能は</a:t>
            </a:r>
            <a:r>
              <a:rPr kumimoji="1" lang="en-US" altLang="ja-JP" dirty="0"/>
              <a:t>wheel-soil physics</a:t>
            </a:r>
            <a:r>
              <a:rPr kumimoji="1" lang="ja-JP" altLang="en-US" dirty="0"/>
              <a:t>に強く依存する。</a:t>
            </a:r>
            <a:endParaRPr kumimoji="1" lang="en-US" altLang="ja-JP" dirty="0"/>
          </a:p>
          <a:p>
            <a:pPr marL="1828800" lvl="3" indent="-457200">
              <a:buFont typeface="+mj-lt"/>
              <a:buAutoNum type="arabicPeriod"/>
            </a:pPr>
            <a:r>
              <a:rPr lang="en-US" altLang="ja-JP" dirty="0"/>
              <a:t>Drawbar pull</a:t>
            </a:r>
          </a:p>
          <a:p>
            <a:pPr marL="1828800" lvl="3" indent="-457200">
              <a:buFont typeface="+mj-lt"/>
              <a:buAutoNum type="arabicPeriod"/>
            </a:pPr>
            <a:r>
              <a:rPr kumimoji="1" lang="en-US" altLang="ja-JP" dirty="0"/>
              <a:t>Sinkage</a:t>
            </a:r>
          </a:p>
          <a:p>
            <a:pPr marL="1828800" lvl="3" indent="-457200">
              <a:buFont typeface="+mj-lt"/>
              <a:buAutoNum type="arabicPeriod"/>
            </a:pPr>
            <a:r>
              <a:rPr lang="en-US" altLang="ja-JP" dirty="0"/>
              <a:t>Torque</a:t>
            </a:r>
          </a:p>
          <a:p>
            <a:pPr marL="1828800" lvl="3" indent="-457200">
              <a:buFont typeface="+mj-lt"/>
              <a:buAutoNum type="arabicPeriod"/>
            </a:pPr>
            <a:r>
              <a:rPr kumimoji="1" lang="en-US" altLang="ja-JP" dirty="0"/>
              <a:t>Slip ratio</a:t>
            </a:r>
          </a:p>
          <a:p>
            <a:pPr marL="914400" lvl="1" indent="-457200">
              <a:buFont typeface="+mj-lt"/>
              <a:buAutoNum type="arabicPeriod"/>
            </a:pPr>
            <a:r>
              <a:rPr lang="en-US" altLang="ja-JP" dirty="0" err="1"/>
              <a:t>Terramechanics</a:t>
            </a:r>
            <a:r>
              <a:rPr lang="en-US" altLang="ja-JP" dirty="0"/>
              <a:t> models</a:t>
            </a:r>
          </a:p>
          <a:p>
            <a:pPr marL="1371600" lvl="2" indent="-457200">
              <a:buFont typeface="+mj-lt"/>
              <a:buAutoNum type="arabicPeriod"/>
            </a:pPr>
            <a:r>
              <a:rPr kumimoji="1" lang="en-US" altLang="ja-JP" dirty="0"/>
              <a:t>Bekker pressure-sinkage</a:t>
            </a:r>
          </a:p>
          <a:p>
            <a:pPr marL="914400" lvl="2" indent="0">
              <a:buNone/>
            </a:pPr>
            <a:r>
              <a:rPr lang="ja-JP" altLang="en-US" dirty="0"/>
              <a:t>既存モデルは単輪実験が中心で、マルチホイールは未解明</a:t>
            </a:r>
            <a:endParaRPr kumimoji="1" lang="en-US" altLang="ja-JP" dirty="0"/>
          </a:p>
        </p:txBody>
      </p:sp>
      <p:sp>
        <p:nvSpPr>
          <p:cNvPr id="4" name="吹き出し: 角を丸めた四角形 3">
            <a:extLst>
              <a:ext uri="{FF2B5EF4-FFF2-40B4-BE49-F238E27FC236}">
                <a16:creationId xmlns:a16="http://schemas.microsoft.com/office/drawing/2014/main" id="{829290B6-8D3B-8ED5-EB8D-D5FB6D476966}"/>
              </a:ext>
            </a:extLst>
          </p:cNvPr>
          <p:cNvSpPr/>
          <p:nvPr/>
        </p:nvSpPr>
        <p:spPr>
          <a:xfrm>
            <a:off x="6333564" y="1166254"/>
            <a:ext cx="2581835" cy="1048870"/>
          </a:xfrm>
          <a:prstGeom prst="wedgeRoundRectCallout">
            <a:avLst>
              <a:gd name="adj1" fmla="val -164583"/>
              <a:gd name="adj2" fmla="val 31731"/>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dirty="0"/>
              <a:t>そもそもなぜ宇宙開発が必要なのかを書く。</a:t>
            </a:r>
          </a:p>
        </p:txBody>
      </p:sp>
      <p:sp>
        <p:nvSpPr>
          <p:cNvPr id="5" name="四角形: 角を丸くする 4">
            <a:extLst>
              <a:ext uri="{FF2B5EF4-FFF2-40B4-BE49-F238E27FC236}">
                <a16:creationId xmlns:a16="http://schemas.microsoft.com/office/drawing/2014/main" id="{5B941130-BDAA-7D8F-44AC-C293DBDDE48D}"/>
              </a:ext>
            </a:extLst>
          </p:cNvPr>
          <p:cNvSpPr/>
          <p:nvPr/>
        </p:nvSpPr>
        <p:spPr>
          <a:xfrm>
            <a:off x="628649" y="5928658"/>
            <a:ext cx="7886699" cy="7814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dirty="0"/>
              <a:t>既存研究は単輪が中心であり、マルチホイールローバーの挙動は十分に理解されていない。したがって、</a:t>
            </a:r>
            <a:r>
              <a:rPr kumimoji="1" lang="ja-JP" altLang="en-US" dirty="0">
                <a:highlight>
                  <a:srgbClr val="FFFF00"/>
                </a:highlight>
              </a:rPr>
              <a:t>最適化とシミュレーションを組み合わせた研究が必要</a:t>
            </a:r>
            <a:r>
              <a:rPr kumimoji="1" lang="ja-JP" altLang="en-US" dirty="0"/>
              <a:t>である。</a:t>
            </a:r>
          </a:p>
        </p:txBody>
      </p:sp>
    </p:spTree>
    <p:extLst>
      <p:ext uri="{BB962C8B-B14F-4D97-AF65-F5344CB8AC3E}">
        <p14:creationId xmlns:p14="http://schemas.microsoft.com/office/powerpoint/2010/main" val="2474554622"/>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018805-929A-23FB-BF7E-363EF956A1D7}"/>
              </a:ext>
            </a:extLst>
          </p:cNvPr>
          <p:cNvSpPr>
            <a:spLocks noGrp="1"/>
          </p:cNvSpPr>
          <p:nvPr>
            <p:ph type="title"/>
          </p:nvPr>
        </p:nvSpPr>
        <p:spPr/>
        <p:txBody>
          <a:bodyPr/>
          <a:lstStyle/>
          <a:p>
            <a:r>
              <a:rPr kumimoji="1" lang="en-US" altLang="ja-JP" dirty="0"/>
              <a:t>Background Investigation</a:t>
            </a:r>
            <a:endParaRPr kumimoji="1" lang="ja-JP" altLang="en-US" dirty="0"/>
          </a:p>
        </p:txBody>
      </p:sp>
      <p:sp>
        <p:nvSpPr>
          <p:cNvPr id="3" name="コンテンツ プレースホルダー 2">
            <a:extLst>
              <a:ext uri="{FF2B5EF4-FFF2-40B4-BE49-F238E27FC236}">
                <a16:creationId xmlns:a16="http://schemas.microsoft.com/office/drawing/2014/main" id="{170636AF-45D9-B5B3-C307-A645BB62196C}"/>
              </a:ext>
            </a:extLst>
          </p:cNvPr>
          <p:cNvSpPr>
            <a:spLocks noGrp="1"/>
          </p:cNvSpPr>
          <p:nvPr>
            <p:ph idx="1"/>
          </p:nvPr>
        </p:nvSpPr>
        <p:spPr/>
        <p:txBody>
          <a:bodyPr>
            <a:normAutofit fontScale="85000" lnSpcReduction="20000"/>
          </a:bodyPr>
          <a:lstStyle/>
          <a:p>
            <a:r>
              <a:rPr kumimoji="1" lang="en-US" altLang="ja-JP" dirty="0"/>
              <a:t>Mobile prediction</a:t>
            </a:r>
            <a:r>
              <a:rPr kumimoji="1" lang="ja-JP" altLang="en-US" dirty="0"/>
              <a:t>とは？</a:t>
            </a:r>
            <a:endParaRPr kumimoji="1" lang="en-US" altLang="ja-JP" dirty="0"/>
          </a:p>
          <a:p>
            <a:pPr lvl="1"/>
            <a:r>
              <a:rPr lang="ja-JP" altLang="en-US" dirty="0"/>
              <a:t>あるローバー（車輪形状・重量・サスペンションなど）が、ある地盤条件（レゴリス特性・斜面・重力）で、どの程度の走行性能を発揮できるかを事前にモデルやシミュレーションで予測すること。</a:t>
            </a:r>
            <a:endParaRPr lang="en-US" altLang="ja-JP" dirty="0"/>
          </a:p>
          <a:p>
            <a:pPr lvl="2"/>
            <a:r>
              <a:rPr kumimoji="1" lang="ja-JP" altLang="en-US" dirty="0"/>
              <a:t>入力</a:t>
            </a:r>
            <a:endParaRPr kumimoji="1" lang="en-US" altLang="ja-JP" dirty="0"/>
          </a:p>
          <a:p>
            <a:pPr lvl="3"/>
            <a:r>
              <a:rPr lang="ja-JP" altLang="en-US" dirty="0"/>
              <a:t>ローバーのパラメータ（車輪半径・幅・グラウザ形状・質量・重心位置など）</a:t>
            </a:r>
            <a:endParaRPr lang="en-US" altLang="ja-JP" dirty="0"/>
          </a:p>
          <a:p>
            <a:pPr lvl="3"/>
            <a:r>
              <a:rPr kumimoji="1" lang="ja-JP" altLang="en-US" dirty="0"/>
              <a:t>地盤パラメータ（</a:t>
            </a:r>
            <a:r>
              <a:rPr kumimoji="1" lang="en-US" altLang="ja-JP" dirty="0"/>
              <a:t>Bekker</a:t>
            </a:r>
            <a:r>
              <a:rPr kumimoji="1" lang="ja-JP" altLang="en-US" dirty="0"/>
              <a:t>パラメータ、内部摩擦角、年直力など）</a:t>
            </a:r>
            <a:endParaRPr kumimoji="1" lang="en-US" altLang="ja-JP" dirty="0"/>
          </a:p>
          <a:p>
            <a:pPr lvl="3"/>
            <a:r>
              <a:rPr lang="ja-JP" altLang="en-US" dirty="0"/>
              <a:t>環境条件（重力、斜面角度）</a:t>
            </a:r>
            <a:endParaRPr lang="en-US" altLang="ja-JP" dirty="0"/>
          </a:p>
          <a:p>
            <a:pPr lvl="2"/>
            <a:r>
              <a:rPr kumimoji="1" lang="ja-JP" altLang="en-US" dirty="0"/>
              <a:t>出力</a:t>
            </a:r>
            <a:endParaRPr kumimoji="1" lang="en-US" altLang="ja-JP" dirty="0"/>
          </a:p>
          <a:p>
            <a:pPr lvl="3"/>
            <a:r>
              <a:rPr lang="en-US" altLang="ja-JP" dirty="0"/>
              <a:t>Drawbar pull</a:t>
            </a:r>
          </a:p>
          <a:p>
            <a:pPr lvl="3"/>
            <a:r>
              <a:rPr kumimoji="1" lang="en-US" altLang="ja-JP" dirty="0"/>
              <a:t>Wheel sinkage</a:t>
            </a:r>
          </a:p>
          <a:p>
            <a:pPr lvl="3"/>
            <a:r>
              <a:rPr lang="en-US" altLang="ja-JP" dirty="0"/>
              <a:t>Driving torque</a:t>
            </a:r>
          </a:p>
          <a:p>
            <a:pPr lvl="3"/>
            <a:r>
              <a:rPr kumimoji="1" lang="en-US" altLang="ja-JP" dirty="0"/>
              <a:t>Traction efficiency</a:t>
            </a:r>
          </a:p>
          <a:p>
            <a:pPr lvl="3"/>
            <a:r>
              <a:rPr lang="en-US" altLang="ja-JP" dirty="0"/>
              <a:t>Efficiency</a:t>
            </a:r>
          </a:p>
          <a:p>
            <a:pPr lvl="3"/>
            <a:r>
              <a:rPr kumimoji="1" lang="ja-JP" altLang="en-US" dirty="0"/>
              <a:t>走破可能な斜面角度、スタックの有無など</a:t>
            </a:r>
          </a:p>
        </p:txBody>
      </p:sp>
      <p:sp>
        <p:nvSpPr>
          <p:cNvPr id="4" name="四角形: 角を丸くする 3">
            <a:extLst>
              <a:ext uri="{FF2B5EF4-FFF2-40B4-BE49-F238E27FC236}">
                <a16:creationId xmlns:a16="http://schemas.microsoft.com/office/drawing/2014/main" id="{724FE105-19A1-A545-9AB7-4F6CCFF497E7}"/>
              </a:ext>
            </a:extLst>
          </p:cNvPr>
          <p:cNvSpPr/>
          <p:nvPr/>
        </p:nvSpPr>
        <p:spPr>
          <a:xfrm>
            <a:off x="628649" y="5928658"/>
            <a:ext cx="7886699" cy="7814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dirty="0"/>
              <a:t>車両</a:t>
            </a:r>
            <a:r>
              <a:rPr kumimoji="1" lang="en-US" altLang="ja-JP" dirty="0"/>
              <a:t>-</a:t>
            </a:r>
            <a:r>
              <a:rPr kumimoji="1" lang="ja-JP" altLang="en-US" dirty="0"/>
              <a:t>地盤相互作用モデルを用いて、ローバーの走行性能を定量的に予測すること。</a:t>
            </a:r>
          </a:p>
        </p:txBody>
      </p:sp>
    </p:spTree>
    <p:extLst>
      <p:ext uri="{BB962C8B-B14F-4D97-AF65-F5344CB8AC3E}">
        <p14:creationId xmlns:p14="http://schemas.microsoft.com/office/powerpoint/2010/main" val="75291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51AEDC-2086-B82A-6322-117375DD8293}"/>
              </a:ext>
            </a:extLst>
          </p:cNvPr>
          <p:cNvSpPr>
            <a:spLocks noGrp="1"/>
          </p:cNvSpPr>
          <p:nvPr>
            <p:ph type="title"/>
          </p:nvPr>
        </p:nvSpPr>
        <p:spPr/>
        <p:txBody>
          <a:bodyPr/>
          <a:lstStyle/>
          <a:p>
            <a:r>
              <a:rPr kumimoji="1" lang="en-US" altLang="ja-JP" dirty="0"/>
              <a:t>Background Investigation</a:t>
            </a:r>
            <a:endParaRPr kumimoji="1" lang="ja-JP" altLang="en-US" dirty="0"/>
          </a:p>
        </p:txBody>
      </p:sp>
      <p:sp>
        <p:nvSpPr>
          <p:cNvPr id="3" name="コンテンツ プレースホルダー 2">
            <a:extLst>
              <a:ext uri="{FF2B5EF4-FFF2-40B4-BE49-F238E27FC236}">
                <a16:creationId xmlns:a16="http://schemas.microsoft.com/office/drawing/2014/main" id="{3DED4880-CD2B-E874-331F-20F9117E1788}"/>
              </a:ext>
            </a:extLst>
          </p:cNvPr>
          <p:cNvSpPr>
            <a:spLocks noGrp="1"/>
          </p:cNvSpPr>
          <p:nvPr>
            <p:ph idx="1"/>
          </p:nvPr>
        </p:nvSpPr>
        <p:spPr/>
        <p:txBody>
          <a:bodyPr>
            <a:normAutofit fontScale="85000" lnSpcReduction="20000"/>
          </a:bodyPr>
          <a:lstStyle/>
          <a:p>
            <a:r>
              <a:rPr kumimoji="1" lang="ja-JP" altLang="en-US" dirty="0"/>
              <a:t>なぜ最適化＋シミュレーションが必要になるのか？</a:t>
            </a:r>
            <a:endParaRPr kumimoji="1" lang="en-US" altLang="ja-JP" dirty="0"/>
          </a:p>
          <a:p>
            <a:pPr marL="914400" lvl="1" indent="-457200">
              <a:buFont typeface="+mj-lt"/>
              <a:buAutoNum type="arabicPeriod"/>
            </a:pPr>
            <a:r>
              <a:rPr lang="ja-JP" altLang="en-US" dirty="0"/>
              <a:t>古典的</a:t>
            </a:r>
            <a:r>
              <a:rPr lang="en-US" altLang="ja-JP" dirty="0" err="1"/>
              <a:t>Terramechanics</a:t>
            </a:r>
            <a:r>
              <a:rPr lang="ja-JP" altLang="en-US" dirty="0"/>
              <a:t>モデルの限界</a:t>
            </a:r>
            <a:endParaRPr lang="en-US" altLang="ja-JP" dirty="0"/>
          </a:p>
          <a:p>
            <a:pPr marL="1371600" lvl="2" indent="-457200">
              <a:buFont typeface="+mj-lt"/>
              <a:buAutoNum type="arabicPeriod"/>
            </a:pPr>
            <a:r>
              <a:rPr kumimoji="1" lang="ja-JP" altLang="en-US" dirty="0"/>
              <a:t>多くのローバー研究は</a:t>
            </a:r>
            <a:r>
              <a:rPr kumimoji="1" lang="en-US" altLang="ja-JP" dirty="0"/>
              <a:t>Bekker</a:t>
            </a:r>
            <a:r>
              <a:rPr kumimoji="1" lang="ja-JP" altLang="en-US" dirty="0"/>
              <a:t>や</a:t>
            </a:r>
            <a:r>
              <a:rPr kumimoji="1" lang="en-US" altLang="ja-JP" dirty="0"/>
              <a:t>Wong-Reece</a:t>
            </a:r>
            <a:r>
              <a:rPr kumimoji="1" lang="ja-JP" altLang="en-US" dirty="0"/>
              <a:t>などの経験的</a:t>
            </a:r>
            <a:r>
              <a:rPr kumimoji="1" lang="en-US" altLang="ja-JP" dirty="0" err="1"/>
              <a:t>Terramechanics</a:t>
            </a:r>
            <a:r>
              <a:rPr kumimoji="1" lang="ja-JP" altLang="en-US" dirty="0"/>
              <a:t>モデルを用いて、主に、単輪実験に基づいてパラメータ同定・性能評価を行っている。</a:t>
            </a:r>
            <a:endParaRPr kumimoji="1" lang="en-US" altLang="ja-JP" dirty="0"/>
          </a:p>
          <a:p>
            <a:pPr marL="1371600" lvl="2" indent="-457200">
              <a:buFont typeface="+mj-lt"/>
              <a:buAutoNum type="arabicPeriod"/>
            </a:pPr>
            <a:r>
              <a:rPr lang="ja-JP" altLang="en-US" dirty="0"/>
              <a:t>ある論文では、</a:t>
            </a:r>
            <a:r>
              <a:rPr lang="en-US" altLang="ja-JP" dirty="0"/>
              <a:t>”mobility analysis of extraterrestrial rovers has been carried out using empirical </a:t>
            </a:r>
            <a:r>
              <a:rPr lang="en-US" altLang="ja-JP" dirty="0" err="1"/>
              <a:t>terramechanics</a:t>
            </a:r>
            <a:r>
              <a:rPr lang="en-US" altLang="ja-JP" dirty="0"/>
              <a:t> models originally established for military vehicle mobility analysis”</a:t>
            </a:r>
            <a:r>
              <a:rPr lang="ja-JP" altLang="en-US" dirty="0"/>
              <a:t>と述べられており、もともと地上車両向けに作られた経験式を、月・火星ローバーに流用していることが指摘されている。</a:t>
            </a:r>
            <a:endParaRPr lang="en-US" altLang="ja-JP" dirty="0"/>
          </a:p>
          <a:p>
            <a:pPr marL="1828800" lvl="3" indent="-457200">
              <a:buFont typeface="+mj-lt"/>
              <a:buAutoNum type="arabicPeriod"/>
            </a:pPr>
            <a:r>
              <a:rPr kumimoji="1" lang="en-US" altLang="ja-JP" dirty="0">
                <a:hlinkClick r:id="rId2"/>
              </a:rPr>
              <a:t>An analysis of the Yutu lunar rover’s mobility performance using a multibody</a:t>
            </a:r>
            <a:endParaRPr kumimoji="1" lang="en-US" altLang="ja-JP" dirty="0"/>
          </a:p>
          <a:p>
            <a:pPr marL="1371600" lvl="2" indent="-457200">
              <a:buFont typeface="+mj-lt"/>
              <a:buAutoNum type="arabicPeriod"/>
            </a:pPr>
            <a:r>
              <a:rPr lang="ja-JP" altLang="en-US" dirty="0"/>
              <a:t>これらのモデルは、</a:t>
            </a:r>
            <a:endParaRPr lang="en-US" altLang="ja-JP" dirty="0"/>
          </a:p>
          <a:p>
            <a:pPr marL="1828800" lvl="3" indent="-457200">
              <a:buFont typeface="+mj-lt"/>
              <a:buAutoNum type="arabicPeriod"/>
            </a:pPr>
            <a:r>
              <a:rPr kumimoji="1" lang="ja-JP" altLang="en-US" dirty="0"/>
              <a:t>均一な地盤</a:t>
            </a:r>
            <a:endParaRPr kumimoji="1" lang="en-US" altLang="ja-JP" dirty="0"/>
          </a:p>
          <a:p>
            <a:pPr marL="1828800" lvl="3" indent="-457200">
              <a:buFont typeface="+mj-lt"/>
              <a:buAutoNum type="arabicPeriod"/>
            </a:pPr>
            <a:r>
              <a:rPr lang="ja-JP" altLang="en-US" dirty="0"/>
              <a:t>単一または単一接地パッチ</a:t>
            </a:r>
            <a:endParaRPr lang="en-US" altLang="ja-JP" dirty="0"/>
          </a:p>
          <a:p>
            <a:pPr marL="1371600" lvl="3" indent="0">
              <a:buNone/>
            </a:pPr>
            <a:r>
              <a:rPr kumimoji="1" lang="ja-JP" altLang="en-US" dirty="0"/>
              <a:t>を前提としていることが多く、複数輪の相互干渉（前輪が乱した土壌を後輪が踏む、荷重再配分など）を明示的には扱っていない。</a:t>
            </a:r>
            <a:endParaRPr kumimoji="1" lang="en-US" altLang="ja-JP" dirty="0"/>
          </a:p>
          <a:p>
            <a:pPr marL="800100" lvl="1" indent="-342900">
              <a:buFont typeface="+mj-lt"/>
              <a:buAutoNum type="arabicPeriod"/>
            </a:pPr>
            <a:r>
              <a:rPr kumimoji="1" lang="ja-JP" altLang="en-US" dirty="0"/>
              <a:t>次のページへ。</a:t>
            </a:r>
          </a:p>
        </p:txBody>
      </p:sp>
    </p:spTree>
    <p:extLst>
      <p:ext uri="{BB962C8B-B14F-4D97-AF65-F5344CB8AC3E}">
        <p14:creationId xmlns:p14="http://schemas.microsoft.com/office/powerpoint/2010/main" val="627204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3EFBF-F1E2-6459-B203-84CD8B4886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7DAE017-DDEE-A3F0-FDD8-60860FDE8228}"/>
              </a:ext>
            </a:extLst>
          </p:cNvPr>
          <p:cNvSpPr>
            <a:spLocks noGrp="1"/>
          </p:cNvSpPr>
          <p:nvPr>
            <p:ph type="title"/>
          </p:nvPr>
        </p:nvSpPr>
        <p:spPr/>
        <p:txBody>
          <a:bodyPr/>
          <a:lstStyle/>
          <a:p>
            <a:r>
              <a:rPr kumimoji="1" lang="en-US" altLang="ja-JP" dirty="0"/>
              <a:t>Background Investigation</a:t>
            </a:r>
            <a:endParaRPr kumimoji="1" lang="ja-JP" altLang="en-US" dirty="0"/>
          </a:p>
        </p:txBody>
      </p:sp>
      <p:sp>
        <p:nvSpPr>
          <p:cNvPr id="3" name="コンテンツ プレースホルダー 2">
            <a:extLst>
              <a:ext uri="{FF2B5EF4-FFF2-40B4-BE49-F238E27FC236}">
                <a16:creationId xmlns:a16="http://schemas.microsoft.com/office/drawing/2014/main" id="{D9B66326-646D-0DC1-E488-2419FACB7BEB}"/>
              </a:ext>
            </a:extLst>
          </p:cNvPr>
          <p:cNvSpPr>
            <a:spLocks noGrp="1"/>
          </p:cNvSpPr>
          <p:nvPr>
            <p:ph idx="1"/>
          </p:nvPr>
        </p:nvSpPr>
        <p:spPr/>
        <p:txBody>
          <a:bodyPr>
            <a:normAutofit fontScale="85000" lnSpcReduction="20000"/>
          </a:bodyPr>
          <a:lstStyle/>
          <a:p>
            <a:r>
              <a:rPr kumimoji="1" lang="ja-JP" altLang="en-US" dirty="0"/>
              <a:t>なぜ最適化＋シミュレーションが必要になるのか？</a:t>
            </a:r>
            <a:endParaRPr kumimoji="1" lang="en-US" altLang="ja-JP" dirty="0"/>
          </a:p>
          <a:p>
            <a:pPr marL="914400" lvl="1" indent="-457200">
              <a:buFont typeface="+mj-lt"/>
              <a:buAutoNum type="arabicPeriod"/>
            </a:pPr>
            <a:r>
              <a:rPr lang="ja-JP" altLang="en-US" dirty="0"/>
              <a:t>古典的</a:t>
            </a:r>
            <a:r>
              <a:rPr lang="en-US" altLang="ja-JP" dirty="0" err="1"/>
              <a:t>Terramechanics</a:t>
            </a:r>
            <a:r>
              <a:rPr lang="ja-JP" altLang="en-US" dirty="0"/>
              <a:t>モデルの限界</a:t>
            </a:r>
            <a:endParaRPr lang="en-US" altLang="ja-JP" dirty="0"/>
          </a:p>
          <a:p>
            <a:pPr marL="800100" lvl="1" indent="-342900">
              <a:buFont typeface="+mj-lt"/>
              <a:buAutoNum type="arabicPeriod"/>
            </a:pPr>
            <a:r>
              <a:rPr kumimoji="1" lang="ja-JP" altLang="en-US" dirty="0"/>
              <a:t>マルチホイール系では減少が複雑になる</a:t>
            </a:r>
            <a:endParaRPr kumimoji="1" lang="en-US" altLang="ja-JP" dirty="0"/>
          </a:p>
          <a:p>
            <a:pPr marL="1257300" lvl="2" indent="-342900">
              <a:buFont typeface="+mj-lt"/>
              <a:buAutoNum type="arabicPeriod"/>
            </a:pPr>
            <a:r>
              <a:rPr lang="ja-JP" altLang="en-US" dirty="0"/>
              <a:t>実際には</a:t>
            </a:r>
            <a:r>
              <a:rPr lang="en-US" altLang="ja-JP" dirty="0"/>
              <a:t>6</a:t>
            </a:r>
            <a:r>
              <a:rPr lang="ja-JP" altLang="en-US" dirty="0"/>
              <a:t>輪ローバーなどでは、</a:t>
            </a:r>
            <a:endParaRPr lang="en-US" altLang="ja-JP" dirty="0"/>
          </a:p>
          <a:p>
            <a:pPr marL="1714500" lvl="3" indent="-342900">
              <a:buFont typeface="+mj-lt"/>
              <a:buAutoNum type="arabicPeriod"/>
            </a:pPr>
            <a:r>
              <a:rPr kumimoji="1" lang="ja-JP" altLang="en-US" dirty="0"/>
              <a:t>前輪が土壌を崩す→後輪がその「乱された地盤」を踏む</a:t>
            </a:r>
            <a:endParaRPr kumimoji="1" lang="en-US" altLang="ja-JP" dirty="0"/>
          </a:p>
          <a:p>
            <a:pPr marL="1714500" lvl="3" indent="-342900">
              <a:buFont typeface="+mj-lt"/>
              <a:buAutoNum type="arabicPeriod"/>
            </a:pPr>
            <a:r>
              <a:rPr lang="ja-JP" altLang="en-US" dirty="0"/>
              <a:t>サスペンションによる荷重移動</a:t>
            </a:r>
            <a:endParaRPr lang="en-US" altLang="ja-JP" dirty="0"/>
          </a:p>
          <a:p>
            <a:pPr marL="1714500" lvl="3" indent="-342900">
              <a:buFont typeface="+mj-lt"/>
              <a:buAutoNum type="arabicPeriod"/>
            </a:pPr>
            <a:r>
              <a:rPr kumimoji="1" lang="ja-JP" altLang="en-US" dirty="0"/>
              <a:t>車体変化による接地荷重の変動</a:t>
            </a:r>
            <a:endParaRPr kumimoji="1" lang="en-US" altLang="ja-JP" dirty="0"/>
          </a:p>
          <a:p>
            <a:pPr marL="1371600" lvl="3" indent="0">
              <a:buNone/>
            </a:pPr>
            <a:r>
              <a:rPr kumimoji="1" lang="ja-JP" altLang="en-US" dirty="0"/>
              <a:t>などが起こり、単純な組み合わせでは再現できない。</a:t>
            </a:r>
            <a:endParaRPr kumimoji="1" lang="en-US" altLang="ja-JP" dirty="0"/>
          </a:p>
          <a:p>
            <a:pPr marL="1257300" lvl="2" indent="-342900">
              <a:buFont typeface="+mj-lt"/>
              <a:buAutoNum type="arabicPeriod"/>
            </a:pPr>
            <a:r>
              <a:rPr lang="ja-JP" altLang="en-US" dirty="0"/>
              <a:t>最近の研究では、単輪の</a:t>
            </a:r>
            <a:r>
              <a:rPr lang="en-US" altLang="ja-JP" dirty="0" err="1"/>
              <a:t>Terramechanics</a:t>
            </a:r>
            <a:r>
              <a:rPr lang="ja-JP" altLang="en-US" dirty="0"/>
              <a:t>モデルとマルチボディダイナミクスを組み合わせて、</a:t>
            </a:r>
            <a:r>
              <a:rPr lang="en-US" altLang="ja-JP" dirty="0">
                <a:highlight>
                  <a:srgbClr val="FFFF00"/>
                </a:highlight>
              </a:rPr>
              <a:t>Yutu</a:t>
            </a:r>
            <a:r>
              <a:rPr lang="ja-JP" altLang="en-US" dirty="0">
                <a:highlight>
                  <a:srgbClr val="FFFF00"/>
                </a:highlight>
              </a:rPr>
              <a:t>ローバー</a:t>
            </a:r>
            <a:r>
              <a:rPr lang="ja-JP" altLang="en-US" dirty="0"/>
              <a:t>全体のマルチホイール挙動をシミュレーションする試みが行われている。</a:t>
            </a:r>
            <a:r>
              <a:rPr lang="en-US" altLang="ja-JP" dirty="0">
                <a:hlinkClick r:id="rId3"/>
              </a:rPr>
              <a:t>An analysis of the Yutu lunar rover’s mobility performance using a multibody</a:t>
            </a:r>
            <a:endParaRPr lang="en-US" altLang="ja-JP" dirty="0"/>
          </a:p>
          <a:p>
            <a:pPr marL="1714500" lvl="3" indent="-342900">
              <a:buFont typeface="+mj-lt"/>
              <a:buAutoNum type="arabicPeriod"/>
            </a:pPr>
            <a:r>
              <a:rPr lang="en-US" altLang="ja-JP" dirty="0"/>
              <a:t>Tractive force</a:t>
            </a:r>
          </a:p>
          <a:p>
            <a:pPr marL="1714500" lvl="3" indent="-342900">
              <a:buFont typeface="+mj-lt"/>
              <a:buAutoNum type="arabicPeriod"/>
            </a:pPr>
            <a:r>
              <a:rPr lang="en-US" altLang="ja-JP" dirty="0"/>
              <a:t>Wheel torque</a:t>
            </a:r>
          </a:p>
          <a:p>
            <a:pPr marL="1714500" lvl="3" indent="-342900">
              <a:buFont typeface="+mj-lt"/>
              <a:buAutoNum type="arabicPeriod"/>
            </a:pPr>
            <a:r>
              <a:rPr lang="en-US" altLang="ja-JP" dirty="0"/>
              <a:t>Traction vs slope</a:t>
            </a:r>
          </a:p>
          <a:p>
            <a:pPr marL="1371600" lvl="3" indent="0">
              <a:buNone/>
            </a:pPr>
            <a:r>
              <a:rPr lang="ja-JP" altLang="en-US" dirty="0"/>
              <a:t>などをマルチホイール系として評価しており、「単輪→ローバー全体」への拡張が非自明であることが示唆されている。</a:t>
            </a:r>
            <a:endParaRPr lang="en-US" altLang="ja-JP" dirty="0"/>
          </a:p>
          <a:p>
            <a:pPr marL="800100" lvl="1" indent="-342900">
              <a:buFont typeface="+mj-lt"/>
              <a:buAutoNum type="arabicPeriod"/>
            </a:pPr>
            <a:r>
              <a:rPr lang="ja-JP" altLang="en-US" dirty="0"/>
              <a:t>次のページ</a:t>
            </a:r>
            <a:endParaRPr lang="en-US" altLang="ja-JP" dirty="0"/>
          </a:p>
          <a:p>
            <a:pPr marL="1714500" lvl="3" indent="-342900">
              <a:buFont typeface="+mj-lt"/>
              <a:buAutoNum type="arabicPeriod"/>
            </a:pPr>
            <a:endParaRPr kumimoji="1" lang="ja-JP" altLang="en-US" dirty="0"/>
          </a:p>
        </p:txBody>
      </p:sp>
    </p:spTree>
    <p:extLst>
      <p:ext uri="{BB962C8B-B14F-4D97-AF65-F5344CB8AC3E}">
        <p14:creationId xmlns:p14="http://schemas.microsoft.com/office/powerpoint/2010/main" val="1845656928"/>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7D72-A662-3E91-7D32-B9328E4496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5596FF-8981-4B4D-D522-4317F16C6183}"/>
              </a:ext>
            </a:extLst>
          </p:cNvPr>
          <p:cNvSpPr>
            <a:spLocks noGrp="1"/>
          </p:cNvSpPr>
          <p:nvPr>
            <p:ph type="title"/>
          </p:nvPr>
        </p:nvSpPr>
        <p:spPr/>
        <p:txBody>
          <a:bodyPr/>
          <a:lstStyle/>
          <a:p>
            <a:r>
              <a:rPr kumimoji="1" lang="en-US" altLang="ja-JP" dirty="0"/>
              <a:t>Background Investigation</a:t>
            </a:r>
            <a:endParaRPr kumimoji="1" lang="ja-JP" altLang="en-US" dirty="0"/>
          </a:p>
        </p:txBody>
      </p:sp>
      <p:sp>
        <p:nvSpPr>
          <p:cNvPr id="3" name="コンテンツ プレースホルダー 2">
            <a:extLst>
              <a:ext uri="{FF2B5EF4-FFF2-40B4-BE49-F238E27FC236}">
                <a16:creationId xmlns:a16="http://schemas.microsoft.com/office/drawing/2014/main" id="{ADD9F7E6-9C0F-8321-FF3D-A219F8F0FFE1}"/>
              </a:ext>
            </a:extLst>
          </p:cNvPr>
          <p:cNvSpPr>
            <a:spLocks noGrp="1"/>
          </p:cNvSpPr>
          <p:nvPr>
            <p:ph idx="1"/>
          </p:nvPr>
        </p:nvSpPr>
        <p:spPr/>
        <p:txBody>
          <a:bodyPr>
            <a:normAutofit fontScale="77500" lnSpcReduction="20000"/>
          </a:bodyPr>
          <a:lstStyle/>
          <a:p>
            <a:r>
              <a:rPr kumimoji="1" lang="ja-JP" altLang="en-US" dirty="0"/>
              <a:t>なぜ最適化＋シミュレーションが必要になるのか？</a:t>
            </a:r>
            <a:endParaRPr kumimoji="1" lang="en-US" altLang="ja-JP" dirty="0"/>
          </a:p>
          <a:p>
            <a:pPr marL="914400" lvl="1" indent="-457200">
              <a:buFont typeface="+mj-lt"/>
              <a:buAutoNum type="arabicPeriod"/>
            </a:pPr>
            <a:r>
              <a:rPr lang="ja-JP" altLang="en-US" dirty="0"/>
              <a:t>古典的</a:t>
            </a:r>
            <a:r>
              <a:rPr lang="en-US" altLang="ja-JP" dirty="0" err="1"/>
              <a:t>Terramechanics</a:t>
            </a:r>
            <a:r>
              <a:rPr lang="ja-JP" altLang="en-US" dirty="0"/>
              <a:t>モデルの限界</a:t>
            </a:r>
            <a:endParaRPr lang="en-US" altLang="ja-JP" dirty="0"/>
          </a:p>
          <a:p>
            <a:pPr marL="800100" lvl="1" indent="-342900">
              <a:buFont typeface="+mj-lt"/>
              <a:buAutoNum type="arabicPeriod"/>
            </a:pPr>
            <a:r>
              <a:rPr kumimoji="1" lang="ja-JP" altLang="en-US" dirty="0"/>
              <a:t>マルチホイール系では減少が複雑になる</a:t>
            </a:r>
            <a:endParaRPr kumimoji="1" lang="en-US" altLang="ja-JP" dirty="0"/>
          </a:p>
          <a:p>
            <a:pPr marL="800100" lvl="1" indent="-342900">
              <a:buFont typeface="+mj-lt"/>
              <a:buAutoNum type="arabicPeriod"/>
            </a:pPr>
            <a:r>
              <a:rPr lang="ja-JP" altLang="en-US" dirty="0"/>
              <a:t>なぜ必要になるのか？</a:t>
            </a:r>
            <a:endParaRPr lang="en-US" altLang="ja-JP" dirty="0"/>
          </a:p>
          <a:p>
            <a:pPr marL="1257300" lvl="2" indent="-342900">
              <a:buFont typeface="+mj-lt"/>
              <a:buAutoNum type="arabicPeriod"/>
            </a:pPr>
            <a:r>
              <a:rPr lang="ja-JP" altLang="en-US" dirty="0"/>
              <a:t>古典的</a:t>
            </a:r>
            <a:r>
              <a:rPr lang="en-US" altLang="ja-JP" dirty="0" err="1"/>
              <a:t>Terramechanics</a:t>
            </a:r>
            <a:r>
              <a:rPr lang="ja-JP" altLang="en-US" dirty="0"/>
              <a:t>モデルは、単輪・経験式ベースであり、マルチホイールローバーの複雑な挙動（輪間干渉・荷重再配分）などを十分に表現できない。</a:t>
            </a:r>
            <a:endParaRPr lang="en-US" altLang="ja-JP" dirty="0"/>
          </a:p>
          <a:p>
            <a:pPr marL="1257300" lvl="2" indent="-342900">
              <a:buFont typeface="+mj-lt"/>
              <a:buAutoNum type="arabicPeriod"/>
            </a:pPr>
            <a:r>
              <a:rPr lang="ja-JP" altLang="en-US" dirty="0"/>
              <a:t>一方で、</a:t>
            </a:r>
            <a:r>
              <a:rPr lang="en-US" altLang="ja-JP" dirty="0">
                <a:highlight>
                  <a:srgbClr val="FFFF00"/>
                </a:highlight>
              </a:rPr>
              <a:t>DEM</a:t>
            </a:r>
            <a:r>
              <a:rPr lang="ja-JP" altLang="en-US" dirty="0"/>
              <a:t>や</a:t>
            </a:r>
            <a:r>
              <a:rPr lang="en-US" altLang="ja-JP" dirty="0">
                <a:highlight>
                  <a:srgbClr val="FFFF00"/>
                </a:highlight>
              </a:rPr>
              <a:t>SPH</a:t>
            </a:r>
            <a:r>
              <a:rPr lang="ja-JP" altLang="en-US" dirty="0"/>
              <a:t>などの高精度モデルは、計三個ストが非常に高く、設計空間（車輪半径・幅・グラウザ形状など）を総当たりで探索するには不向きである。</a:t>
            </a:r>
            <a:endParaRPr lang="en-US" altLang="ja-JP" dirty="0"/>
          </a:p>
          <a:p>
            <a:pPr marL="1257300" lvl="2" indent="-342900">
              <a:buFont typeface="+mj-lt"/>
              <a:buAutoNum type="arabicPeriod"/>
            </a:pPr>
            <a:r>
              <a:rPr kumimoji="1" lang="ja-JP" altLang="en-US" dirty="0"/>
              <a:t>よって、ある程度高速に計算できる物理ベースモデル（</a:t>
            </a:r>
            <a:r>
              <a:rPr kumimoji="1" lang="en-US" altLang="ja-JP" dirty="0"/>
              <a:t>Bekker</a:t>
            </a:r>
            <a:r>
              <a:rPr kumimoji="1" lang="ja-JP" altLang="en-US" dirty="0"/>
              <a:t>系＋マルチボディなど）を用いて、</a:t>
            </a:r>
            <a:r>
              <a:rPr kumimoji="1" lang="en-US" altLang="ja-JP" dirty="0"/>
              <a:t>meta-heuristic </a:t>
            </a:r>
            <a:r>
              <a:rPr kumimoji="1" lang="en-US" altLang="ja-JP" dirty="0" err="1"/>
              <a:t>optimisation</a:t>
            </a:r>
            <a:r>
              <a:rPr kumimoji="1" lang="ja-JP" altLang="en-US" dirty="0"/>
              <a:t>（</a:t>
            </a:r>
            <a:r>
              <a:rPr kumimoji="1" lang="en-US" altLang="ja-JP" dirty="0"/>
              <a:t>GA</a:t>
            </a:r>
            <a:r>
              <a:rPr kumimoji="1" lang="ja-JP" altLang="en-US" dirty="0"/>
              <a:t>、</a:t>
            </a:r>
            <a:r>
              <a:rPr kumimoji="1" lang="en-US" altLang="ja-JP" dirty="0">
                <a:highlight>
                  <a:srgbClr val="FFFF00"/>
                </a:highlight>
              </a:rPr>
              <a:t>PSO</a:t>
            </a:r>
            <a:r>
              <a:rPr kumimoji="1" lang="ja-JP" altLang="en-US" dirty="0"/>
              <a:t>、</a:t>
            </a:r>
            <a:r>
              <a:rPr kumimoji="1" lang="en-US" altLang="ja-JP" dirty="0">
                <a:highlight>
                  <a:srgbClr val="FFFF00"/>
                </a:highlight>
              </a:rPr>
              <a:t>DE</a:t>
            </a:r>
            <a:r>
              <a:rPr kumimoji="1" lang="ja-JP" altLang="en-US" dirty="0"/>
              <a:t>など）で、設計パラメータ空間を効率的に探索するというアプローチが合理的になる。</a:t>
            </a:r>
            <a:endParaRPr kumimoji="1" lang="en-US" altLang="ja-JP" dirty="0"/>
          </a:p>
          <a:p>
            <a:pPr marL="1257300" lvl="2" indent="-342900">
              <a:buFont typeface="+mj-lt"/>
              <a:buAutoNum type="arabicPeriod"/>
            </a:pPr>
            <a:r>
              <a:rPr lang="ja-JP" altLang="en-US" dirty="0"/>
              <a:t>さらに、別の研究では、</a:t>
            </a:r>
            <a:r>
              <a:rPr lang="en-US" altLang="ja-JP" dirty="0" err="1"/>
              <a:t>terramechanics</a:t>
            </a:r>
            <a:r>
              <a:rPr lang="ja-JP" altLang="en-US" dirty="0"/>
              <a:t>モデルを用いて、“</a:t>
            </a:r>
            <a:r>
              <a:rPr lang="en-US" altLang="ja-JP" dirty="0"/>
              <a:t>empirical design criterion that allows to generate first estimates of the optimal wheel </a:t>
            </a:r>
            <a:r>
              <a:rPr lang="en-US" altLang="ja-JP" dirty="0" err="1"/>
              <a:t>dimentions</a:t>
            </a:r>
            <a:r>
              <a:rPr lang="ja-JP" altLang="en-US" dirty="0"/>
              <a:t>”を導出しており、車輪寸法の最適化が</a:t>
            </a:r>
            <a:r>
              <a:rPr lang="en-US" altLang="ja-JP" dirty="0" err="1"/>
              <a:t>terramechanics</a:t>
            </a:r>
            <a:r>
              <a:rPr lang="ja-JP" altLang="en-US" dirty="0"/>
              <a:t>と強く結びついていることが示されている。</a:t>
            </a:r>
            <a:endParaRPr lang="en-US" altLang="ja-JP" dirty="0"/>
          </a:p>
          <a:p>
            <a:pPr marL="1714500" lvl="3" indent="-342900">
              <a:buFont typeface="+mj-lt"/>
              <a:buAutoNum type="arabicPeriod"/>
            </a:pPr>
            <a:r>
              <a:rPr lang="en-US" altLang="ja-JP" dirty="0">
                <a:hlinkClick r:id="rId3"/>
              </a:rPr>
              <a:t>Improving Limitations of Rover Missions in the Moon and Planets by Unifying Vehicle–Terrain Interaction Models</a:t>
            </a:r>
            <a:endParaRPr kumimoji="1" lang="ja-JP" altLang="en-US" dirty="0"/>
          </a:p>
        </p:txBody>
      </p:sp>
    </p:spTree>
    <p:extLst>
      <p:ext uri="{BB962C8B-B14F-4D97-AF65-F5344CB8AC3E}">
        <p14:creationId xmlns:p14="http://schemas.microsoft.com/office/powerpoint/2010/main" val="2038210242"/>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E2988-9414-D8AA-924E-7CC76A4A17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BE3CA3-AB59-08AD-1287-A62E581093B4}"/>
              </a:ext>
            </a:extLst>
          </p:cNvPr>
          <p:cNvSpPr>
            <a:spLocks noGrp="1"/>
          </p:cNvSpPr>
          <p:nvPr>
            <p:ph type="title"/>
          </p:nvPr>
        </p:nvSpPr>
        <p:spPr/>
        <p:txBody>
          <a:bodyPr/>
          <a:lstStyle/>
          <a:p>
            <a:r>
              <a:rPr kumimoji="1" lang="en-US" altLang="ja-JP" dirty="0"/>
              <a:t>Background Investigation</a:t>
            </a:r>
            <a:endParaRPr kumimoji="1" lang="ja-JP" altLang="en-US" dirty="0"/>
          </a:p>
        </p:txBody>
      </p:sp>
      <p:sp>
        <p:nvSpPr>
          <p:cNvPr id="3" name="コンテンツ プレースホルダー 2">
            <a:extLst>
              <a:ext uri="{FF2B5EF4-FFF2-40B4-BE49-F238E27FC236}">
                <a16:creationId xmlns:a16="http://schemas.microsoft.com/office/drawing/2014/main" id="{4ABB406E-6BD2-E2E6-EE37-D3F1D6552EF9}"/>
              </a:ext>
            </a:extLst>
          </p:cNvPr>
          <p:cNvSpPr>
            <a:spLocks noGrp="1"/>
          </p:cNvSpPr>
          <p:nvPr>
            <p:ph idx="1"/>
          </p:nvPr>
        </p:nvSpPr>
        <p:spPr/>
        <p:txBody>
          <a:bodyPr>
            <a:normAutofit/>
          </a:bodyPr>
          <a:lstStyle/>
          <a:p>
            <a:r>
              <a:rPr kumimoji="1" lang="ja-JP" altLang="en-US" dirty="0"/>
              <a:t>なぜ最適化＋シミュレーションが必要になるのか？</a:t>
            </a:r>
            <a:endParaRPr kumimoji="1" lang="en-US" altLang="ja-JP" dirty="0"/>
          </a:p>
          <a:p>
            <a:pPr marL="914400" lvl="1" indent="-457200">
              <a:buFont typeface="+mj-lt"/>
              <a:buAutoNum type="arabicPeriod"/>
            </a:pPr>
            <a:r>
              <a:rPr lang="ja-JP" altLang="en-US" dirty="0"/>
              <a:t>古典的</a:t>
            </a:r>
            <a:r>
              <a:rPr lang="en-US" altLang="ja-JP" dirty="0" err="1"/>
              <a:t>Terramechanics</a:t>
            </a:r>
            <a:r>
              <a:rPr lang="ja-JP" altLang="en-US" dirty="0"/>
              <a:t>モデルの限界</a:t>
            </a:r>
            <a:endParaRPr lang="en-US" altLang="ja-JP" dirty="0"/>
          </a:p>
          <a:p>
            <a:pPr marL="800100" lvl="1" indent="-342900">
              <a:buFont typeface="+mj-lt"/>
              <a:buAutoNum type="arabicPeriod"/>
            </a:pPr>
            <a:r>
              <a:rPr kumimoji="1" lang="ja-JP" altLang="en-US" dirty="0"/>
              <a:t>マルチホイール系では減少が複雑になる</a:t>
            </a:r>
            <a:endParaRPr kumimoji="1" lang="en-US" altLang="ja-JP" dirty="0"/>
          </a:p>
          <a:p>
            <a:pPr marL="800100" lvl="1" indent="-342900">
              <a:buFont typeface="+mj-lt"/>
              <a:buAutoNum type="arabicPeriod"/>
            </a:pPr>
            <a:r>
              <a:rPr lang="ja-JP" altLang="en-US" dirty="0"/>
              <a:t>なぜ必要になるのか？</a:t>
            </a:r>
            <a:endParaRPr lang="en-US" altLang="ja-JP" dirty="0"/>
          </a:p>
          <a:p>
            <a:pPr marL="457200" lvl="1" indent="0">
              <a:buNone/>
            </a:pPr>
            <a:endParaRPr lang="en-US" altLang="ja-JP" dirty="0"/>
          </a:p>
        </p:txBody>
      </p:sp>
      <p:sp>
        <p:nvSpPr>
          <p:cNvPr id="4" name="四角形: 角を丸くする 3">
            <a:extLst>
              <a:ext uri="{FF2B5EF4-FFF2-40B4-BE49-F238E27FC236}">
                <a16:creationId xmlns:a16="http://schemas.microsoft.com/office/drawing/2014/main" id="{B51E9399-889B-9405-2B8A-C0C4AEEEDDE8}"/>
              </a:ext>
            </a:extLst>
          </p:cNvPr>
          <p:cNvSpPr/>
          <p:nvPr/>
        </p:nvSpPr>
        <p:spPr>
          <a:xfrm>
            <a:off x="628649" y="3872753"/>
            <a:ext cx="7886699" cy="28373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dirty="0"/>
              <a:t>既存の</a:t>
            </a:r>
            <a:r>
              <a:rPr kumimoji="1" lang="en-US" altLang="ja-JP" dirty="0" err="1"/>
              <a:t>Terramechanics</a:t>
            </a:r>
            <a:r>
              <a:rPr kumimoji="1" lang="ja-JP" altLang="en-US" dirty="0"/>
              <a:t>モデルは主として単輪実験に基づく経験式であり、マルチホイールローバーにおける輪間干渉や荷重再配分を十分に表現できない。一方で、高精度数値モデル（</a:t>
            </a:r>
            <a:r>
              <a:rPr kumimoji="1" lang="en-US" altLang="ja-JP" dirty="0"/>
              <a:t>DEM</a:t>
            </a:r>
            <a:r>
              <a:rPr kumimoji="1" lang="ja-JP" altLang="en-US" dirty="0"/>
              <a:t>、</a:t>
            </a:r>
            <a:r>
              <a:rPr kumimoji="1" lang="en-US" altLang="ja-JP" dirty="0"/>
              <a:t>SPH</a:t>
            </a:r>
            <a:r>
              <a:rPr kumimoji="1" lang="ja-JP" altLang="en-US" dirty="0"/>
              <a:t>）は計算コストが高く、車輪設計パラメータ空間を広く探索するには適さない。したがって、本研究では、物理ベースの</a:t>
            </a:r>
            <a:r>
              <a:rPr kumimoji="1" lang="en-US" altLang="ja-JP" dirty="0" err="1"/>
              <a:t>Terramechanics</a:t>
            </a:r>
            <a:r>
              <a:rPr kumimoji="1" lang="ja-JP" altLang="en-US" dirty="0"/>
              <a:t>モデルに基づくマルチホイールローバーシミュレーションと、メタヒューリスティック最適化を組み合わせることで、惑星ローバーの車輪設計パラメータを体系的に最適化することを目指す。</a:t>
            </a:r>
          </a:p>
        </p:txBody>
      </p:sp>
    </p:spTree>
    <p:extLst>
      <p:ext uri="{BB962C8B-B14F-4D97-AF65-F5344CB8AC3E}">
        <p14:creationId xmlns:p14="http://schemas.microsoft.com/office/powerpoint/2010/main" val="2441071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C11451-E700-BE1E-6A5A-FEEEEAD2B2D1}"/>
              </a:ext>
            </a:extLst>
          </p:cNvPr>
          <p:cNvSpPr>
            <a:spLocks noGrp="1"/>
          </p:cNvSpPr>
          <p:nvPr>
            <p:ph type="title"/>
          </p:nvPr>
        </p:nvSpPr>
        <p:spPr/>
        <p:txBody>
          <a:bodyPr/>
          <a:lstStyle/>
          <a:p>
            <a:r>
              <a:rPr kumimoji="1" lang="en-US" altLang="ja-JP" dirty="0"/>
              <a:t>Research question</a:t>
            </a:r>
            <a:endParaRPr kumimoji="1" lang="ja-JP" altLang="en-US" dirty="0"/>
          </a:p>
        </p:txBody>
      </p:sp>
      <p:sp>
        <p:nvSpPr>
          <p:cNvPr id="3" name="コンテンツ プレースホルダー 2">
            <a:extLst>
              <a:ext uri="{FF2B5EF4-FFF2-40B4-BE49-F238E27FC236}">
                <a16:creationId xmlns:a16="http://schemas.microsoft.com/office/drawing/2014/main" id="{E1E6C0B3-DB1C-98F8-703C-C38B624B9902}"/>
              </a:ext>
            </a:extLst>
          </p:cNvPr>
          <p:cNvSpPr>
            <a:spLocks noGrp="1"/>
          </p:cNvSpPr>
          <p:nvPr>
            <p:ph idx="1"/>
          </p:nvPr>
        </p:nvSpPr>
        <p:spPr/>
        <p:txBody>
          <a:bodyPr/>
          <a:lstStyle/>
          <a:p>
            <a:r>
              <a:rPr kumimoji="1" lang="en-US" altLang="ja-JP" dirty="0"/>
              <a:t>1</a:t>
            </a:r>
            <a:r>
              <a:rPr kumimoji="1" lang="ja-JP" altLang="en-US" dirty="0"/>
              <a:t>つの中心質問と</a:t>
            </a:r>
            <a:r>
              <a:rPr kumimoji="1" lang="en-US" altLang="ja-JP" dirty="0"/>
              <a:t>1</a:t>
            </a:r>
            <a:r>
              <a:rPr kumimoji="1" lang="ja-JP" altLang="en-US" dirty="0"/>
              <a:t>つの補助質問が基本形。</a:t>
            </a:r>
            <a:endParaRPr kumimoji="1" lang="en-US" altLang="ja-JP" dirty="0"/>
          </a:p>
          <a:p>
            <a:pPr lvl="1"/>
            <a:r>
              <a:rPr lang="en-US" altLang="ja-JP" dirty="0"/>
              <a:t>Main research question</a:t>
            </a:r>
          </a:p>
          <a:p>
            <a:pPr lvl="2"/>
            <a:r>
              <a:rPr kumimoji="1" lang="en-US" altLang="ja-JP" dirty="0"/>
              <a:t>Which wheel design parameters </a:t>
            </a:r>
            <a:r>
              <a:rPr kumimoji="1" lang="en-US" altLang="ja-JP" dirty="0" err="1"/>
              <a:t>maximise</a:t>
            </a:r>
            <a:r>
              <a:rPr kumimoji="1" lang="en-US" altLang="ja-JP" dirty="0"/>
              <a:t> traction efficiently and minimize sinkage for planetary rovers operating on deformable soil?</a:t>
            </a:r>
          </a:p>
          <a:p>
            <a:pPr lvl="1"/>
            <a:r>
              <a:rPr lang="en-US" altLang="ja-JP" dirty="0"/>
              <a:t>Sub-question</a:t>
            </a:r>
          </a:p>
          <a:p>
            <a:pPr lvl="2"/>
            <a:r>
              <a:rPr lang="en-US" altLang="ja-JP" dirty="0"/>
              <a:t>How can meta-heuristic optimization algorithms be applied to determine optimal wheel geometry under varying soil and gravity </a:t>
            </a:r>
            <a:r>
              <a:rPr lang="en-US" altLang="ja-JP" dirty="0" err="1"/>
              <a:t>conditons</a:t>
            </a:r>
            <a:r>
              <a:rPr lang="en-US" altLang="ja-JP" dirty="0"/>
              <a:t>?</a:t>
            </a:r>
          </a:p>
        </p:txBody>
      </p:sp>
    </p:spTree>
    <p:extLst>
      <p:ext uri="{BB962C8B-B14F-4D97-AF65-F5344CB8AC3E}">
        <p14:creationId xmlns:p14="http://schemas.microsoft.com/office/powerpoint/2010/main" val="2501819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02E0D1-A1EC-E512-E0F6-2825B5A60A4D}"/>
              </a:ext>
            </a:extLst>
          </p:cNvPr>
          <p:cNvSpPr>
            <a:spLocks noGrp="1"/>
          </p:cNvSpPr>
          <p:nvPr>
            <p:ph type="title"/>
          </p:nvPr>
        </p:nvSpPr>
        <p:spPr/>
        <p:txBody>
          <a:bodyPr/>
          <a:lstStyle/>
          <a:p>
            <a:r>
              <a:rPr kumimoji="1" lang="en-US" altLang="ja-JP" dirty="0"/>
              <a:t>Evaluation metrics</a:t>
            </a:r>
            <a:endParaRPr kumimoji="1" lang="ja-JP" altLang="en-US" dirty="0"/>
          </a:p>
        </p:txBody>
      </p:sp>
      <p:sp>
        <p:nvSpPr>
          <p:cNvPr id="3" name="コンテンツ プレースホルダー 2">
            <a:extLst>
              <a:ext uri="{FF2B5EF4-FFF2-40B4-BE49-F238E27FC236}">
                <a16:creationId xmlns:a16="http://schemas.microsoft.com/office/drawing/2014/main" id="{74D0FA76-DC5B-80B5-61D7-792DDF459AA5}"/>
              </a:ext>
            </a:extLst>
          </p:cNvPr>
          <p:cNvSpPr>
            <a:spLocks noGrp="1"/>
          </p:cNvSpPr>
          <p:nvPr>
            <p:ph idx="1"/>
          </p:nvPr>
        </p:nvSpPr>
        <p:spPr/>
        <p:txBody>
          <a:bodyPr/>
          <a:lstStyle/>
          <a:p>
            <a:r>
              <a:rPr kumimoji="1" lang="en-US" altLang="ja-JP" dirty="0"/>
              <a:t>3</a:t>
            </a:r>
            <a:r>
              <a:rPr kumimoji="1" lang="ja-JP" altLang="en-US" dirty="0"/>
              <a:t>つの指標を</a:t>
            </a:r>
            <a:r>
              <a:rPr kumimoji="1" lang="ja-JP" altLang="en-US" b="1" dirty="0"/>
              <a:t>選んだ理由</a:t>
            </a:r>
            <a:r>
              <a:rPr kumimoji="1" lang="ja-JP" altLang="en-US" dirty="0"/>
              <a:t>付きで述べる。</a:t>
            </a:r>
            <a:endParaRPr lang="en-US" altLang="ja-JP" dirty="0"/>
          </a:p>
          <a:p>
            <a:pPr lvl="1"/>
            <a:r>
              <a:rPr kumimoji="1" lang="en-US" altLang="ja-JP" dirty="0"/>
              <a:t>Drawbar pull</a:t>
            </a:r>
          </a:p>
          <a:p>
            <a:pPr lvl="2"/>
            <a:r>
              <a:rPr lang="ja-JP" altLang="en-US" dirty="0"/>
              <a:t>車輪が地面を押して前進力として利用できる力。</a:t>
            </a:r>
            <a:endParaRPr lang="en-US" altLang="ja-JP" dirty="0"/>
          </a:p>
          <a:p>
            <a:pPr lvl="2"/>
            <a:r>
              <a:rPr kumimoji="1" lang="ja-JP" altLang="en-US" dirty="0"/>
              <a:t>高いほどけん引性能が良い。</a:t>
            </a:r>
            <a:endParaRPr kumimoji="1" lang="en-US" altLang="ja-JP" dirty="0"/>
          </a:p>
          <a:p>
            <a:pPr lvl="1"/>
            <a:r>
              <a:rPr lang="en-US" altLang="ja-JP" dirty="0"/>
              <a:t>Wheel sinkage</a:t>
            </a:r>
          </a:p>
          <a:p>
            <a:pPr lvl="2"/>
            <a:r>
              <a:rPr kumimoji="1" lang="ja-JP" altLang="en-US" dirty="0"/>
              <a:t>車輪が土壌に沈み込む深さ。</a:t>
            </a:r>
            <a:endParaRPr kumimoji="1" lang="en-US" altLang="ja-JP" dirty="0"/>
          </a:p>
          <a:p>
            <a:pPr lvl="2"/>
            <a:r>
              <a:rPr lang="ja-JP" altLang="en-US" dirty="0"/>
              <a:t>深いほどエネルギー損失が大きく、スタックのリスクが増える。</a:t>
            </a:r>
            <a:endParaRPr lang="en-US" altLang="ja-JP" dirty="0"/>
          </a:p>
          <a:p>
            <a:pPr lvl="1"/>
            <a:r>
              <a:rPr kumimoji="1" lang="en-US" altLang="ja-JP" dirty="0"/>
              <a:t>Driving torque</a:t>
            </a:r>
          </a:p>
          <a:p>
            <a:pPr lvl="2"/>
            <a:r>
              <a:rPr lang="ja-JP" altLang="en-US" dirty="0"/>
              <a:t>車輪を回すために必要なトルク。</a:t>
            </a:r>
            <a:endParaRPr lang="en-US" altLang="ja-JP" dirty="0"/>
          </a:p>
          <a:p>
            <a:pPr lvl="2"/>
            <a:r>
              <a:rPr kumimoji="1" lang="ja-JP" altLang="en-US" dirty="0"/>
              <a:t>土壌抵抗が大きいほど増加し、エネルギー消費に直結。</a:t>
            </a:r>
            <a:endParaRPr kumimoji="1" lang="en-US" altLang="ja-JP" dirty="0"/>
          </a:p>
        </p:txBody>
      </p:sp>
    </p:spTree>
    <p:extLst>
      <p:ext uri="{BB962C8B-B14F-4D97-AF65-F5344CB8AC3E}">
        <p14:creationId xmlns:p14="http://schemas.microsoft.com/office/powerpoint/2010/main" val="2907088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A345C9-9212-59F7-39F5-ADA511248D09}"/>
              </a:ext>
            </a:extLst>
          </p:cNvPr>
          <p:cNvSpPr>
            <a:spLocks noGrp="1"/>
          </p:cNvSpPr>
          <p:nvPr>
            <p:ph type="title"/>
          </p:nvPr>
        </p:nvSpPr>
        <p:spPr/>
        <p:txBody>
          <a:bodyPr/>
          <a:lstStyle/>
          <a:p>
            <a:r>
              <a:rPr kumimoji="1" lang="en-US" altLang="ja-JP" dirty="0"/>
              <a:t>Initial test plan</a:t>
            </a:r>
            <a:endParaRPr kumimoji="1" lang="ja-JP" altLang="en-US" dirty="0"/>
          </a:p>
        </p:txBody>
      </p:sp>
      <p:sp>
        <p:nvSpPr>
          <p:cNvPr id="3" name="コンテンツ プレースホルダー 2">
            <a:extLst>
              <a:ext uri="{FF2B5EF4-FFF2-40B4-BE49-F238E27FC236}">
                <a16:creationId xmlns:a16="http://schemas.microsoft.com/office/drawing/2014/main" id="{20617FAE-DCFA-72A5-E943-9EB98E022BD3}"/>
              </a:ext>
            </a:extLst>
          </p:cNvPr>
          <p:cNvSpPr>
            <a:spLocks noGrp="1"/>
          </p:cNvSpPr>
          <p:nvPr>
            <p:ph idx="1"/>
          </p:nvPr>
        </p:nvSpPr>
        <p:spPr/>
        <p:txBody>
          <a:bodyPr/>
          <a:lstStyle/>
          <a:p>
            <a:r>
              <a:rPr kumimoji="1" lang="ja-JP" altLang="en-US" dirty="0"/>
              <a:t>単輪モデルで文献値と比較</a:t>
            </a:r>
            <a:endParaRPr kumimoji="1" lang="en-US" altLang="ja-JP" dirty="0"/>
          </a:p>
          <a:p>
            <a:pPr lvl="1"/>
            <a:r>
              <a:rPr lang="en-US" altLang="ja-JP" dirty="0"/>
              <a:t>Sinkage</a:t>
            </a:r>
          </a:p>
          <a:p>
            <a:pPr lvl="1"/>
            <a:r>
              <a:rPr kumimoji="1" lang="en-US" altLang="ja-JP" dirty="0"/>
              <a:t>Drawbar pull</a:t>
            </a:r>
            <a:endParaRPr lang="en-US" altLang="ja-JP" dirty="0"/>
          </a:p>
          <a:p>
            <a:r>
              <a:rPr kumimoji="1" lang="en-US" altLang="ja-JP" dirty="0"/>
              <a:t>Parameter swipe</a:t>
            </a:r>
          </a:p>
          <a:p>
            <a:r>
              <a:rPr lang="en-US" altLang="ja-JP" dirty="0"/>
              <a:t>Meta-heuristics </a:t>
            </a:r>
            <a:r>
              <a:rPr lang="en-US" altLang="ja-JP" dirty="0" err="1"/>
              <a:t>optimisation</a:t>
            </a:r>
            <a:r>
              <a:rPr lang="ja-JP" altLang="en-US" dirty="0"/>
              <a:t>（</a:t>
            </a:r>
            <a:r>
              <a:rPr lang="en-US" altLang="ja-JP" dirty="0"/>
              <a:t>GA</a:t>
            </a:r>
            <a:r>
              <a:rPr lang="ja-JP" altLang="en-US" dirty="0"/>
              <a:t>）</a:t>
            </a:r>
            <a:endParaRPr kumimoji="1" lang="en-US" altLang="ja-JP" dirty="0"/>
          </a:p>
        </p:txBody>
      </p:sp>
    </p:spTree>
    <p:extLst>
      <p:ext uri="{BB962C8B-B14F-4D97-AF65-F5344CB8AC3E}">
        <p14:creationId xmlns:p14="http://schemas.microsoft.com/office/powerpoint/2010/main" val="939608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10700D-8A73-4263-B2DA-F73EBDF6570E}"/>
              </a:ext>
            </a:extLst>
          </p:cNvPr>
          <p:cNvSpPr>
            <a:spLocks noGrp="1"/>
          </p:cNvSpPr>
          <p:nvPr>
            <p:ph type="title"/>
          </p:nvPr>
        </p:nvSpPr>
        <p:spPr/>
        <p:txBody>
          <a:bodyPr/>
          <a:lstStyle/>
          <a:p>
            <a:r>
              <a:rPr kumimoji="1" lang="ja-JP" altLang="en-US" dirty="0"/>
              <a:t>骨子</a:t>
            </a:r>
          </a:p>
        </p:txBody>
      </p:sp>
      <p:sp>
        <p:nvSpPr>
          <p:cNvPr id="4" name="フローチャート: 処理 3">
            <a:extLst>
              <a:ext uri="{FF2B5EF4-FFF2-40B4-BE49-F238E27FC236}">
                <a16:creationId xmlns:a16="http://schemas.microsoft.com/office/drawing/2014/main" id="{A3A9B08B-E8F9-1C56-D932-96F32CB99A07}"/>
              </a:ext>
            </a:extLst>
          </p:cNvPr>
          <p:cNvSpPr/>
          <p:nvPr/>
        </p:nvSpPr>
        <p:spPr>
          <a:xfrm>
            <a:off x="422031" y="1758462"/>
            <a:ext cx="5930001" cy="67993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a:t>【</a:t>
            </a:r>
            <a:r>
              <a:rPr kumimoji="1" lang="ja-JP" altLang="en-US" dirty="0"/>
              <a:t>大義</a:t>
            </a:r>
            <a:r>
              <a:rPr kumimoji="1" lang="en-US" altLang="ja-JP" dirty="0"/>
              <a:t>】</a:t>
            </a:r>
            <a:r>
              <a:rPr kumimoji="1" lang="ja-JP" altLang="en-US" dirty="0"/>
              <a:t>他惑星における人類の持続的な存続を目指す。</a:t>
            </a:r>
          </a:p>
        </p:txBody>
      </p:sp>
      <p:sp>
        <p:nvSpPr>
          <p:cNvPr id="5" name="矢印: 下 4">
            <a:extLst>
              <a:ext uri="{FF2B5EF4-FFF2-40B4-BE49-F238E27FC236}">
                <a16:creationId xmlns:a16="http://schemas.microsoft.com/office/drawing/2014/main" id="{75F32A0A-11F7-59B9-E315-C60244204C0D}"/>
              </a:ext>
            </a:extLst>
          </p:cNvPr>
          <p:cNvSpPr/>
          <p:nvPr/>
        </p:nvSpPr>
        <p:spPr>
          <a:xfrm>
            <a:off x="2731008" y="2825730"/>
            <a:ext cx="914400" cy="46329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ローチャート: 処理 5">
            <a:extLst>
              <a:ext uri="{FF2B5EF4-FFF2-40B4-BE49-F238E27FC236}">
                <a16:creationId xmlns:a16="http://schemas.microsoft.com/office/drawing/2014/main" id="{95055062-7CA1-0A14-4CFC-2760229DED64}"/>
              </a:ext>
            </a:extLst>
          </p:cNvPr>
          <p:cNvSpPr/>
          <p:nvPr/>
        </p:nvSpPr>
        <p:spPr>
          <a:xfrm>
            <a:off x="422031" y="3676356"/>
            <a:ext cx="5930001" cy="968796"/>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dirty="0"/>
              <a:t>水が欠かせない。</a:t>
            </a:r>
            <a:endParaRPr kumimoji="1" lang="en-US" altLang="ja-JP" dirty="0"/>
          </a:p>
          <a:p>
            <a:r>
              <a:rPr kumimoji="1" lang="en-US" altLang="ja-JP" dirty="0"/>
              <a:t>【WHY】</a:t>
            </a:r>
          </a:p>
          <a:p>
            <a:r>
              <a:rPr kumimoji="1" lang="ja-JP" altLang="en-US" dirty="0"/>
              <a:t>・生命維持資源（水・酸素）が必要。</a:t>
            </a:r>
            <a:endParaRPr kumimoji="1" lang="en-US" altLang="ja-JP" dirty="0"/>
          </a:p>
        </p:txBody>
      </p:sp>
      <p:sp>
        <p:nvSpPr>
          <p:cNvPr id="7" name="テキスト ボックス 6">
            <a:extLst>
              <a:ext uri="{FF2B5EF4-FFF2-40B4-BE49-F238E27FC236}">
                <a16:creationId xmlns:a16="http://schemas.microsoft.com/office/drawing/2014/main" id="{92A92B02-D5CE-C7AF-4081-1610CA467D8F}"/>
              </a:ext>
            </a:extLst>
          </p:cNvPr>
          <p:cNvSpPr txBox="1"/>
          <p:nvPr/>
        </p:nvSpPr>
        <p:spPr>
          <a:xfrm>
            <a:off x="4077462" y="2732580"/>
            <a:ext cx="4437888" cy="646331"/>
          </a:xfrm>
          <a:prstGeom prst="rect">
            <a:avLst/>
          </a:prstGeom>
          <a:noFill/>
        </p:spPr>
        <p:txBody>
          <a:bodyPr wrap="square" rtlCol="0">
            <a:spAutoFit/>
          </a:bodyPr>
          <a:lstStyle/>
          <a:p>
            <a:r>
              <a:rPr kumimoji="1" lang="en-US" altLang="ja-JP" dirty="0"/>
              <a:t>【</a:t>
            </a:r>
            <a:r>
              <a:rPr kumimoji="1" lang="ja-JP" altLang="en-US" dirty="0"/>
              <a:t>課題</a:t>
            </a:r>
            <a:r>
              <a:rPr kumimoji="1" lang="en-US" altLang="ja-JP" dirty="0"/>
              <a:t>】</a:t>
            </a:r>
            <a:r>
              <a:rPr kumimoji="1" lang="ja-JP" altLang="en-US" dirty="0"/>
              <a:t>水や氷が</a:t>
            </a:r>
            <a:r>
              <a:rPr kumimoji="1" lang="en-US" altLang="ja-JP" dirty="0"/>
              <a:t>PSR</a:t>
            </a:r>
            <a:r>
              <a:rPr kumimoji="1" lang="ja-JP" altLang="en-US" dirty="0"/>
              <a:t>にあることは知られているが、</a:t>
            </a:r>
            <a:r>
              <a:rPr kumimoji="1" lang="en-US" altLang="ja-JP" dirty="0"/>
              <a:t>PSR</a:t>
            </a:r>
            <a:r>
              <a:rPr kumimoji="1" lang="ja-JP" altLang="en-US" dirty="0"/>
              <a:t>の探索は極めて困難。</a:t>
            </a:r>
          </a:p>
        </p:txBody>
      </p:sp>
      <p:sp>
        <p:nvSpPr>
          <p:cNvPr id="8" name="吹き出し: 四角形 7">
            <a:extLst>
              <a:ext uri="{FF2B5EF4-FFF2-40B4-BE49-F238E27FC236}">
                <a16:creationId xmlns:a16="http://schemas.microsoft.com/office/drawing/2014/main" id="{B9BC42C2-7A6E-41CA-2A51-9B007509C6A9}"/>
              </a:ext>
            </a:extLst>
          </p:cNvPr>
          <p:cNvSpPr/>
          <p:nvPr/>
        </p:nvSpPr>
        <p:spPr>
          <a:xfrm>
            <a:off x="7271121" y="1320984"/>
            <a:ext cx="1450848" cy="890650"/>
          </a:xfrm>
          <a:prstGeom prst="wedgeRectCallout">
            <a:avLst>
              <a:gd name="adj1" fmla="val -39320"/>
              <a:gd name="adj2" fmla="val 9398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論文</a:t>
            </a:r>
            <a:r>
              <a:rPr kumimoji="1" lang="en-US" altLang="ja-JP" dirty="0"/>
              <a:t>9</a:t>
            </a:r>
            <a:r>
              <a:rPr kumimoji="1" lang="ja-JP" altLang="en-US" dirty="0"/>
              <a:t>の実例を紹介。</a:t>
            </a:r>
          </a:p>
        </p:txBody>
      </p:sp>
      <p:sp>
        <p:nvSpPr>
          <p:cNvPr id="9" name="フローチャート: 処理 8">
            <a:extLst>
              <a:ext uri="{FF2B5EF4-FFF2-40B4-BE49-F238E27FC236}">
                <a16:creationId xmlns:a16="http://schemas.microsoft.com/office/drawing/2014/main" id="{CC61E409-A1D0-4EB8-C84D-E0408BC10D96}"/>
              </a:ext>
            </a:extLst>
          </p:cNvPr>
          <p:cNvSpPr/>
          <p:nvPr/>
        </p:nvSpPr>
        <p:spPr>
          <a:xfrm>
            <a:off x="422031" y="5212548"/>
            <a:ext cx="8197713" cy="968796"/>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en-US" altLang="ja-JP" dirty="0"/>
              <a:t>【</a:t>
            </a:r>
            <a:r>
              <a:rPr kumimoji="1" lang="ja-JP" altLang="en-US" dirty="0"/>
              <a:t>目的</a:t>
            </a:r>
            <a:r>
              <a:rPr kumimoji="1" lang="en-US" altLang="ja-JP" dirty="0"/>
              <a:t>】PSR</a:t>
            </a:r>
            <a:r>
              <a:rPr kumimoji="1" lang="ja-JP" altLang="en-US" dirty="0"/>
              <a:t>での探索をより効率的なものにするためにローバーの開発に貢献したい。</a:t>
            </a:r>
            <a:endParaRPr kumimoji="1" lang="en-US" altLang="ja-JP" dirty="0"/>
          </a:p>
        </p:txBody>
      </p:sp>
      <p:sp>
        <p:nvSpPr>
          <p:cNvPr id="10" name="矢印: 下 9">
            <a:extLst>
              <a:ext uri="{FF2B5EF4-FFF2-40B4-BE49-F238E27FC236}">
                <a16:creationId xmlns:a16="http://schemas.microsoft.com/office/drawing/2014/main" id="{B5AF1015-E946-38C5-7B3C-8DFE217D11C4}"/>
              </a:ext>
            </a:extLst>
          </p:cNvPr>
          <p:cNvSpPr/>
          <p:nvPr/>
        </p:nvSpPr>
        <p:spPr>
          <a:xfrm>
            <a:off x="7082145" y="3673090"/>
            <a:ext cx="914400" cy="138658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59339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FD094-544B-3964-DFC2-BA0062AFA6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73E150-5B25-213A-9CC7-62324F94DD79}"/>
              </a:ext>
            </a:extLst>
          </p:cNvPr>
          <p:cNvSpPr>
            <a:spLocks noGrp="1"/>
          </p:cNvSpPr>
          <p:nvPr>
            <p:ph type="title"/>
          </p:nvPr>
        </p:nvSpPr>
        <p:spPr/>
        <p:txBody>
          <a:bodyPr/>
          <a:lstStyle/>
          <a:p>
            <a:r>
              <a:rPr kumimoji="1" lang="ja-JP" altLang="en-US" dirty="0"/>
              <a:t>骨子</a:t>
            </a:r>
          </a:p>
        </p:txBody>
      </p:sp>
      <p:sp>
        <p:nvSpPr>
          <p:cNvPr id="9" name="フローチャート: 処理 8">
            <a:extLst>
              <a:ext uri="{FF2B5EF4-FFF2-40B4-BE49-F238E27FC236}">
                <a16:creationId xmlns:a16="http://schemas.microsoft.com/office/drawing/2014/main" id="{9EEFCEF3-3803-6CBE-F840-9D4F4DA589BB}"/>
              </a:ext>
            </a:extLst>
          </p:cNvPr>
          <p:cNvSpPr/>
          <p:nvPr/>
        </p:nvSpPr>
        <p:spPr>
          <a:xfrm>
            <a:off x="422031" y="1690689"/>
            <a:ext cx="8197713" cy="968796"/>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en-US" altLang="ja-JP" dirty="0"/>
              <a:t>【</a:t>
            </a:r>
            <a:r>
              <a:rPr kumimoji="1" lang="ja-JP" altLang="en-US" dirty="0"/>
              <a:t>目的</a:t>
            </a:r>
            <a:r>
              <a:rPr kumimoji="1" lang="en-US" altLang="ja-JP" dirty="0"/>
              <a:t>】PSR</a:t>
            </a:r>
            <a:r>
              <a:rPr kumimoji="1" lang="ja-JP" altLang="en-US" dirty="0"/>
              <a:t>での探索をより効率的なものにするためにローバーの開発に貢献したい。</a:t>
            </a:r>
            <a:endParaRPr kumimoji="1" lang="en-US" altLang="ja-JP" dirty="0"/>
          </a:p>
        </p:txBody>
      </p:sp>
      <p:sp>
        <p:nvSpPr>
          <p:cNvPr id="3" name="テキスト ボックス 2">
            <a:extLst>
              <a:ext uri="{FF2B5EF4-FFF2-40B4-BE49-F238E27FC236}">
                <a16:creationId xmlns:a16="http://schemas.microsoft.com/office/drawing/2014/main" id="{5C14804A-A65F-A38E-A2B4-440010B7D6FF}"/>
              </a:ext>
            </a:extLst>
          </p:cNvPr>
          <p:cNvSpPr txBox="1"/>
          <p:nvPr/>
        </p:nvSpPr>
        <p:spPr>
          <a:xfrm>
            <a:off x="1878794" y="3059668"/>
            <a:ext cx="5386411" cy="369332"/>
          </a:xfrm>
          <a:prstGeom prst="rect">
            <a:avLst/>
          </a:prstGeom>
          <a:noFill/>
        </p:spPr>
        <p:txBody>
          <a:bodyPr wrap="none" rtlCol="0">
            <a:spAutoFit/>
          </a:bodyPr>
          <a:lstStyle/>
          <a:p>
            <a:r>
              <a:rPr kumimoji="1" lang="ja-JP" altLang="en-US" dirty="0"/>
              <a:t>論文を読んだところ、</a:t>
            </a:r>
            <a:r>
              <a:rPr kumimoji="1" lang="en-US" altLang="ja-JP" dirty="0"/>
              <a:t>4</a:t>
            </a:r>
            <a:r>
              <a:rPr kumimoji="1" lang="ja-JP" altLang="en-US" dirty="0"/>
              <a:t>つの解決策が見つかった。</a:t>
            </a:r>
          </a:p>
        </p:txBody>
      </p:sp>
      <p:sp>
        <p:nvSpPr>
          <p:cNvPr id="11" name="フローチャート: 処理 10">
            <a:extLst>
              <a:ext uri="{FF2B5EF4-FFF2-40B4-BE49-F238E27FC236}">
                <a16:creationId xmlns:a16="http://schemas.microsoft.com/office/drawing/2014/main" id="{451A15CD-5EA2-6494-A864-E0DAD2D2C5A6}"/>
              </a:ext>
            </a:extLst>
          </p:cNvPr>
          <p:cNvSpPr/>
          <p:nvPr/>
        </p:nvSpPr>
        <p:spPr>
          <a:xfrm>
            <a:off x="1421775" y="3547898"/>
            <a:ext cx="4284081" cy="536422"/>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dirty="0"/>
              <a:t>過酷環境向け金属ホイール研究 </a:t>
            </a:r>
            <a:r>
              <a:rPr kumimoji="1" lang="en-US" altLang="ja-JP" dirty="0"/>
              <a:t>[1]</a:t>
            </a:r>
          </a:p>
        </p:txBody>
      </p:sp>
      <p:sp>
        <p:nvSpPr>
          <p:cNvPr id="12" name="フローチャート: 処理 11">
            <a:extLst>
              <a:ext uri="{FF2B5EF4-FFF2-40B4-BE49-F238E27FC236}">
                <a16:creationId xmlns:a16="http://schemas.microsoft.com/office/drawing/2014/main" id="{108DFFCA-A637-A80B-3F55-7C582BB86557}"/>
              </a:ext>
            </a:extLst>
          </p:cNvPr>
          <p:cNvSpPr/>
          <p:nvPr/>
        </p:nvSpPr>
        <p:spPr>
          <a:xfrm>
            <a:off x="1421775" y="4203218"/>
            <a:ext cx="4284081" cy="536422"/>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dirty="0"/>
              <a:t>動力伝達系の研究 </a:t>
            </a:r>
            <a:r>
              <a:rPr kumimoji="1" lang="en-US" altLang="ja-JP" dirty="0"/>
              <a:t>[6]</a:t>
            </a:r>
          </a:p>
        </p:txBody>
      </p:sp>
      <p:sp>
        <p:nvSpPr>
          <p:cNvPr id="13" name="フローチャート: 処理 12">
            <a:extLst>
              <a:ext uri="{FF2B5EF4-FFF2-40B4-BE49-F238E27FC236}">
                <a16:creationId xmlns:a16="http://schemas.microsoft.com/office/drawing/2014/main" id="{2FE763BE-01B8-3FD8-9164-7C9D44A2892D}"/>
              </a:ext>
            </a:extLst>
          </p:cNvPr>
          <p:cNvSpPr/>
          <p:nvPr/>
        </p:nvSpPr>
        <p:spPr>
          <a:xfrm>
            <a:off x="1421775" y="4858538"/>
            <a:ext cx="4284081" cy="536422"/>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en-US" altLang="ja-JP" dirty="0"/>
              <a:t>LRF + VFH</a:t>
            </a:r>
            <a:r>
              <a:rPr kumimoji="1" lang="ja-JP" altLang="en-US" dirty="0"/>
              <a:t>による研究 </a:t>
            </a:r>
            <a:r>
              <a:rPr kumimoji="1" lang="en-US" altLang="ja-JP" dirty="0"/>
              <a:t>[8]</a:t>
            </a:r>
          </a:p>
        </p:txBody>
      </p:sp>
      <p:sp>
        <p:nvSpPr>
          <p:cNvPr id="14" name="フローチャート: 処理 13">
            <a:extLst>
              <a:ext uri="{FF2B5EF4-FFF2-40B4-BE49-F238E27FC236}">
                <a16:creationId xmlns:a16="http://schemas.microsoft.com/office/drawing/2014/main" id="{DCCBEC86-7D66-0690-35B2-CC55E4E3A8DD}"/>
              </a:ext>
            </a:extLst>
          </p:cNvPr>
          <p:cNvSpPr/>
          <p:nvPr/>
        </p:nvSpPr>
        <p:spPr>
          <a:xfrm>
            <a:off x="1421775" y="5513858"/>
            <a:ext cx="5686161" cy="536422"/>
          </a:xfrm>
          <a:prstGeom prst="flowChartProcess">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dirty="0"/>
              <a:t>土壌</a:t>
            </a:r>
            <a:r>
              <a:rPr kumimoji="1" lang="en-US" altLang="ja-JP" dirty="0"/>
              <a:t>-</a:t>
            </a:r>
            <a:r>
              <a:rPr kumimoji="1" lang="ja-JP" altLang="en-US" dirty="0"/>
              <a:t>車輪モデルによる車輪の最適化</a:t>
            </a:r>
            <a:r>
              <a:rPr kumimoji="1" lang="en-US" altLang="ja-JP" dirty="0"/>
              <a:t> [2][3][4][5][7]</a:t>
            </a:r>
          </a:p>
        </p:txBody>
      </p:sp>
      <p:grpSp>
        <p:nvGrpSpPr>
          <p:cNvPr id="22" name="グループ化 21">
            <a:extLst>
              <a:ext uri="{FF2B5EF4-FFF2-40B4-BE49-F238E27FC236}">
                <a16:creationId xmlns:a16="http://schemas.microsoft.com/office/drawing/2014/main" id="{44C07CAF-E16D-4D5A-B78C-95E561650569}"/>
              </a:ext>
            </a:extLst>
          </p:cNvPr>
          <p:cNvGrpSpPr/>
          <p:nvPr/>
        </p:nvGrpSpPr>
        <p:grpSpPr>
          <a:xfrm>
            <a:off x="768095" y="2659485"/>
            <a:ext cx="653680" cy="3127884"/>
            <a:chOff x="768095" y="2659485"/>
            <a:chExt cx="653680" cy="3127884"/>
          </a:xfrm>
        </p:grpSpPr>
        <p:cxnSp>
          <p:nvCxnSpPr>
            <p:cNvPr id="16" name="コネクタ: カギ線 15">
              <a:extLst>
                <a:ext uri="{FF2B5EF4-FFF2-40B4-BE49-F238E27FC236}">
                  <a16:creationId xmlns:a16="http://schemas.microsoft.com/office/drawing/2014/main" id="{8E606B1D-6C5E-A142-5FD1-A8D2C6534D0E}"/>
                </a:ext>
              </a:extLst>
            </p:cNvPr>
            <p:cNvCxnSpPr>
              <a:cxnSpLocks/>
              <a:endCxn id="11" idx="1"/>
            </p:cNvCxnSpPr>
            <p:nvPr/>
          </p:nvCxnSpPr>
          <p:spPr>
            <a:xfrm rot="16200000" flipH="1">
              <a:off x="516623" y="2910957"/>
              <a:ext cx="1156624" cy="65368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9" name="コネクタ: カギ線 18">
              <a:extLst>
                <a:ext uri="{FF2B5EF4-FFF2-40B4-BE49-F238E27FC236}">
                  <a16:creationId xmlns:a16="http://schemas.microsoft.com/office/drawing/2014/main" id="{6F948D88-3B43-924A-B1BB-9071AFC5FBFE}"/>
                </a:ext>
              </a:extLst>
            </p:cNvPr>
            <p:cNvCxnSpPr>
              <a:cxnSpLocks/>
            </p:cNvCxnSpPr>
            <p:nvPr/>
          </p:nvCxnSpPr>
          <p:spPr>
            <a:xfrm rot="16200000" flipH="1">
              <a:off x="516623" y="3566277"/>
              <a:ext cx="1156624" cy="65368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0" name="コネクタ: カギ線 19">
              <a:extLst>
                <a:ext uri="{FF2B5EF4-FFF2-40B4-BE49-F238E27FC236}">
                  <a16:creationId xmlns:a16="http://schemas.microsoft.com/office/drawing/2014/main" id="{C3FF8111-7E4D-B909-F951-A0DFCD14E614}"/>
                </a:ext>
              </a:extLst>
            </p:cNvPr>
            <p:cNvCxnSpPr>
              <a:cxnSpLocks/>
            </p:cNvCxnSpPr>
            <p:nvPr/>
          </p:nvCxnSpPr>
          <p:spPr>
            <a:xfrm rot="16200000" flipH="1">
              <a:off x="516623" y="4226898"/>
              <a:ext cx="1156624" cy="65368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1" name="コネクタ: カギ線 20">
              <a:extLst>
                <a:ext uri="{FF2B5EF4-FFF2-40B4-BE49-F238E27FC236}">
                  <a16:creationId xmlns:a16="http://schemas.microsoft.com/office/drawing/2014/main" id="{EAF79FCE-4C00-511E-AB7C-F8F8DC5D6E6B}"/>
                </a:ext>
              </a:extLst>
            </p:cNvPr>
            <p:cNvCxnSpPr>
              <a:cxnSpLocks/>
            </p:cNvCxnSpPr>
            <p:nvPr/>
          </p:nvCxnSpPr>
          <p:spPr>
            <a:xfrm rot="16200000" flipH="1">
              <a:off x="516623" y="4882217"/>
              <a:ext cx="1156624" cy="65368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grpSp>
      <p:sp>
        <p:nvSpPr>
          <p:cNvPr id="23" name="吹き出し: 四角形 22">
            <a:extLst>
              <a:ext uri="{FF2B5EF4-FFF2-40B4-BE49-F238E27FC236}">
                <a16:creationId xmlns:a16="http://schemas.microsoft.com/office/drawing/2014/main" id="{3062B0B1-0F20-9D33-4AB2-12B4B7C9C5CA}"/>
              </a:ext>
            </a:extLst>
          </p:cNvPr>
          <p:cNvSpPr/>
          <p:nvPr/>
        </p:nvSpPr>
        <p:spPr>
          <a:xfrm>
            <a:off x="6359536" y="4203146"/>
            <a:ext cx="2316480" cy="855197"/>
          </a:xfrm>
          <a:prstGeom prst="wedgeRectCallout">
            <a:avLst>
              <a:gd name="adj1" fmla="val -28728"/>
              <a:gd name="adj2" fmla="val 73905"/>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dirty="0"/>
              <a:t>これを選択。</a:t>
            </a:r>
            <a:endParaRPr kumimoji="1" lang="en-US" altLang="ja-JP" dirty="0"/>
          </a:p>
          <a:p>
            <a:pPr algn="ctr"/>
            <a:r>
              <a:rPr kumimoji="1" lang="ja-JP" altLang="en-US" dirty="0"/>
              <a:t>なぜ？を書きたい。</a:t>
            </a:r>
          </a:p>
        </p:txBody>
      </p:sp>
    </p:spTree>
    <p:extLst>
      <p:ext uri="{BB962C8B-B14F-4D97-AF65-F5344CB8AC3E}">
        <p14:creationId xmlns:p14="http://schemas.microsoft.com/office/powerpoint/2010/main" val="3962089992"/>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3357</TotalTime>
  <Words>1557</Words>
  <Application>Microsoft Office PowerPoint</Application>
  <PresentationFormat>画面に合わせる (4:3)</PresentationFormat>
  <Paragraphs>130</Paragraphs>
  <Slides>13</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游ゴシック</vt:lpstr>
      <vt:lpstr>Aptos</vt:lpstr>
      <vt:lpstr>Aptos Display</vt:lpstr>
      <vt:lpstr>Arial</vt:lpstr>
      <vt:lpstr>Office テーマ</vt:lpstr>
      <vt:lpstr>Brain storming</vt:lpstr>
      <vt:lpstr>Background Investigation0</vt:lpstr>
      <vt:lpstr>Background Investigation</vt:lpstr>
      <vt:lpstr>Background Investigation</vt:lpstr>
      <vt:lpstr>Background Investigation</vt:lpstr>
      <vt:lpstr>Background Investigation</vt:lpstr>
      <vt:lpstr>Background Investigation</vt:lpstr>
      <vt:lpstr>Background Investigation</vt:lpstr>
      <vt:lpstr>Research question</vt:lpstr>
      <vt:lpstr>Evaluation metrics</vt:lpstr>
      <vt:lpstr>Initial test plan</vt:lpstr>
      <vt:lpstr>骨子</vt:lpstr>
      <vt:lpstr>骨子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Shin YOSHIZAWA</dc:creator>
  <cp:lastModifiedBy>Shin YOSHIZAWA</cp:lastModifiedBy>
  <cp:revision>2</cp:revision>
  <dcterms:created xsi:type="dcterms:W3CDTF">2026-04-19T17:04:47Z</dcterms:created>
  <dcterms:modified xsi:type="dcterms:W3CDTF">2026-05-01T12:47:21Z</dcterms:modified>
</cp:coreProperties>
</file>